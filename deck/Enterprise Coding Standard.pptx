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 Title. One sentence: bad code gets stopped when the update set is closed, with a link that explains how to fix it, instead of being found in production.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0:00–2:00. Open with a story, not a slide of bullets. Pick one real incident (hardcoded credential, a before rule calling current.update(), someone editing a shared component). Keep it short: what happened, what it cost, when it was found. Then: "What if that had been stopped the moment the developer closed the update set?"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2:00–4:00. Walk the flow left to right. Key point: this is the existing Scan &amp; Complete button; the gate suite now runs only the 40 ECS checks. Priority 1 and 2 stop completion until fixed or covered by an approved exception; 3 and 4 don't block but go to the peer reviewer. It only looks at what is in this update set, not the whole instance.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4:00–9:00. Rebuild the demo set beforehand (node tools/instance/demo.mjs). 1) Open the update set and click Scan &amp; Complete: the progress dialog runs, then it is blocked by 4 findings. 2) Open the Scan Findings tab: six findings with priority and record. Besides the three planted ones: SN-CFG-005, because UpdateSetReviewUtils is also in the Default update set (a real catch), and two priority-3 findings in the gate's own code that go to the reviewer. 3) Open SEC-001: line 8, the password masked, the Documentation link to the KB article. 4) Open SN-CFG-008 and click Request exception: show the dialog and send a request. 5) Finish on the Dashboard. If the instance misbehaves, switch to the backup video.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slide if the live demo is skipped or as a recap after it. The record and line match the demo update set (DemoVendorApi, line 8). Point out the masked value: the finding itself never shows the secret.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9:00–12:00 (with the next four slides; about 40 seconds each). Don't read the cards. Pick two the audience will recognize: unfiltered deleteMultiple (priority 1) and hardcoded instance URLs that break after a clone. Code quality here groups JS-001..004, SN-INT-001 and SN-COMPLEXITY-001.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answers "who touched the shared utility?" before it ships. The list is instance data, maintained per instance. Today it holds UpdateSetReviewUtils itself. Access to edit the list is limited to admins and the u_ecs_protected_component_user role (ACLs still to be created by security_admin).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this, the only way past a deliberate finding was an admin muting it. Now the developer asks from the finding itself, in a dialog, with a justification written for the reviewer. Peer Reviewer is notified by email; a member other than the requester approves or rejects (a rejection needs a comment), and the developer is notified. Nothing is hidden: the finding stays visible, marked with the exception, and the peer review lists it. Example: a legitimate change to a protected component like UpdateSetReviewUtils.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articles travel with the standard in the ECS 1.0 update set, so other instances get the same documentation. Developers can read the standard before they ever hit the gate.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page, in the ECS menu, for lead developers. Every row links to the update set, scan or review behind it. "Blocked" uses the same rule as the gate: an unmuted priority 1–2 finding. Test and fixture update sets can be left out with a property. If time is short, show it live at the end of the demo instead of on this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12:00–14:00 starts here. "Expected findings" means each fixture record lists exactly which rules should and should not fire; the scan must match all of them. The numbers are from the validation run SR00000116–118.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last card is a real bug in the old checks: the legacy out-of-box check flagged our own custom global apps (e.g. Git Set Go). Fixed in SN-CFG-007.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gate suite now contains only the 40 ECS checks. "Y1- Active Scheduled Jobs" wasn't an update-set check, so it moved to a separate ECS Instance Health suite. Nothing was deleted: the old checks are inactive and can be turned back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14:00–15:00. Fill in the ask: e.g. approval to roll out, or developers to try it on their next update set. End by asking teams to nominate protected components and owner groups: that list is instance data and needs their input.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slide. Keep it hidden or up during Q&amp;A. Exceptions: the developer clicks Request exception on the finding and gives a justification; a Peer Reviewer member other than the requester approves or rejects (rejections need a comment). It covers that exact finding in that update set: if the code changes and the finding changes, it blocks again. If a rule is wrong in general, tell the ECS owners so it gets fixed.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4F2EC"/>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74750"/>
            <a:ext cx="10566400" cy="501650"/>
          </a:xfrm>
          <a:prstGeom prst="rect">
            <a:avLst/>
          </a:prstGeom>
          <a:noFill/>
          <a:ln/>
        </p:spPr>
        <p:txBody>
          <a:bodyPr wrap="square" lIns="0" tIns="0" rIns="0" bIns="0" rtlCol="0" anchor="t"/>
          <a:lstStyle>
            <a:lvl1pPr algn="l" indent="0" marL="0">
              <a:lnSpc>
                <a:spcPct val="115000"/>
              </a:lnSpc>
              <a:buNone/>
              <a:defRPr lang="en-US" sz="3600" dirty="0">
                <a:solidFill>
                  <a:srgbClr val="12202E"/>
                </a:solidFill>
                <a:latin typeface="IBM Plex Sans" pitchFamily="34" charset="0"/>
                <a:ea typeface="IBM Plex Sans" pitchFamily="34" charset="-122"/>
                <a:cs typeface="IBM Plex Sans"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800" y="1981200"/>
            <a:ext cx="10566400" cy="4064000"/>
          </a:xfrm>
          <a:prstGeom prst="rect">
            <a:avLst/>
          </a:prstGeom>
          <a:noFill/>
          <a:ln/>
        </p:spPr>
        <p:txBody>
          <a:bodyPr wrap="square" lIns="0" tIns="0" rIns="0" bIns="0" rtlCol="0" anchor="t"/>
          <a:lstStyle>
            <a:lvl1pPr algn="l" indent="0" marL="0">
              <a:lnSpc>
                <a:spcPct val="140000"/>
              </a:lnSpc>
              <a:buNone/>
              <a:defRPr lang="en-US" sz="1600" dirty="0">
                <a:solidFill>
                  <a:srgbClr val="12202E"/>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4F2EC"/>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74750"/>
            <a:ext cx="10566400" cy="501650"/>
          </a:xfrm>
          <a:prstGeom prst="rect">
            <a:avLst/>
          </a:prstGeom>
          <a:noFill/>
          <a:ln/>
        </p:spPr>
        <p:txBody>
          <a:bodyPr wrap="square" lIns="0" tIns="0" rIns="0" bIns="0" rtlCol="0" anchor="t"/>
          <a:lstStyle>
            <a:lvl1pPr algn="l" indent="0" marL="0">
              <a:lnSpc>
                <a:spcPct val="115000"/>
              </a:lnSpc>
              <a:buNone/>
              <a:defRPr lang="en-US" sz="3600" dirty="0">
                <a:solidFill>
                  <a:srgbClr val="12202E"/>
                </a:solidFill>
                <a:latin typeface="IBM Plex Sans" pitchFamily="34" charset="0"/>
                <a:ea typeface="IBM Plex Sans" pitchFamily="34" charset="-122"/>
                <a:cs typeface="IBM Plex Sans"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800" y="1981200"/>
            <a:ext cx="10566400" cy="4064000"/>
          </a:xfrm>
          <a:prstGeom prst="rect">
            <a:avLst/>
          </a:prstGeom>
          <a:noFill/>
          <a:ln/>
        </p:spPr>
        <p:txBody>
          <a:bodyPr wrap="square" lIns="0" tIns="0" rIns="0" bIns="0" rtlCol="0" anchor="t"/>
          <a:lstStyle>
            <a:lvl1pPr algn="l" indent="0" marL="0">
              <a:lnSpc>
                <a:spcPct val="140000"/>
              </a:lnSpc>
              <a:buNone/>
              <a:defRPr lang="en-US" sz="1600" dirty="0">
                <a:solidFill>
                  <a:srgbClr val="12202E"/>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2.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2.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2.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2.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slideLayout" Target="../slideLayouts/slideLayout2.xml"/><Relationship Id="rId8"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slideLayout" Target="../slideLayouts/slideLayout2.xml"/><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202E"/>
        </a:solidFill>
      </p:bgPr>
    </p:bg>
    <p:spTree>
      <p:nvGrpSpPr>
        <p:cNvPr id="1" name=""/>
        <p:cNvGrpSpPr/>
        <p:nvPr/>
      </p:nvGrpSpPr>
      <p:grpSpPr>
        <a:xfrm>
          <a:off x="0" y="0"/>
          <a:ext cx="0" cy="0"/>
          <a:chOff x="0" y="0"/>
          <a:chExt cx="0" cy="0"/>
        </a:xfrm>
      </p:grpSpPr>
      <p:sp>
        <p:nvSpPr>
          <p:cNvPr id="2" name="Shape 0"/>
          <p:cNvSpPr/>
          <p:nvPr/>
        </p:nvSpPr>
        <p:spPr>
          <a:xfrm>
            <a:off x="0" y="0"/>
            <a:ext cx="152400" cy="6858000"/>
          </a:xfrm>
          <a:prstGeom prst="rect">
            <a:avLst/>
          </a:prstGeom>
          <a:solidFill>
            <a:srgbClr val="E8833A"/>
          </a:solidFill>
          <a:ln/>
        </p:spPr>
      </p:sp>
      <p:sp>
        <p:nvSpPr>
          <p:cNvPr id="3" name="Text 1"/>
          <p:cNvSpPr/>
          <p:nvPr/>
        </p:nvSpPr>
        <p:spPr>
          <a:xfrm>
            <a:off x="812800" y="2273300"/>
            <a:ext cx="10883392" cy="304800"/>
          </a:xfrm>
          <a:prstGeom prst="rect">
            <a:avLst/>
          </a:prstGeom>
          <a:noFill/>
          <a:ln/>
        </p:spPr>
        <p:txBody>
          <a:bodyPr wrap="square" lIns="0" tIns="0" rIns="0" bIns="0" rtlCol="0" anchor="t">
            <a:normAutofit/>
          </a:bodyPr>
          <a:lstStyle/>
          <a:p>
            <a:pPr algn="l" indent="0" marL="0">
              <a:lnSpc>
                <a:spcPts val="2240"/>
              </a:lnSpc>
              <a:buNone/>
            </a:pPr>
            <a:r>
              <a:rPr lang="en-US" sz="1600" spc="100" kern="0" dirty="0">
                <a:solidFill>
                  <a:srgbClr val="E8833A"/>
                </a:solidFill>
                <a:latin typeface="JetBrains Mono" pitchFamily="49" charset="0"/>
                <a:ea typeface="JetBrains Mono" pitchFamily="49" charset="-122"/>
                <a:cs typeface="JetBrains Mono" pitchFamily="49" charset="-120"/>
              </a:rPr>
              <a:t>ECS 1.0 · INSTANCE SCAN</a:t>
            </a:r>
            <a:endParaRPr lang="en-US" sz="1600" dirty="0"/>
          </a:p>
        </p:txBody>
      </p:sp>
      <p:sp>
        <p:nvSpPr>
          <p:cNvPr id="4" name="Text 2"/>
          <p:cNvSpPr/>
          <p:nvPr>
            <p:ph type="title"/>
          </p:nvPr>
        </p:nvSpPr>
        <p:spPr>
          <a:xfrm>
            <a:off x="812800" y="2806700"/>
            <a:ext cx="9810750" cy="825500"/>
          </a:xfrm>
          <a:prstGeom prst="rect">
            <a:avLst/>
          </a:prstGeom>
          <a:noFill/>
          <a:ln/>
        </p:spPr>
        <p:txBody>
          <a:bodyPr wrap="square" lIns="0" tIns="0" rIns="0" bIns="0" rtlCol="0" anchor="t">
            <a:normAutofit/>
          </a:bodyPr>
          <a:lstStyle/>
          <a:p>
            <a:pPr algn="l" indent="0" marL="0">
              <a:lnSpc>
                <a:spcPts val="6300"/>
              </a:lnSpc>
              <a:buNone/>
            </a:pPr>
            <a:r>
              <a:rPr lang="en-US" sz="6000" b="1" i="0" dirty="0">
                <a:solidFill>
                  <a:srgbClr val="F4F2EC"/>
                </a:solidFill>
                <a:latin typeface="IBM Plex Sans" pitchFamily="34" charset="0"/>
                <a:ea typeface="IBM Plex Sans" pitchFamily="34" charset="-122"/>
                <a:cs typeface="IBM Plex Sans" pitchFamily="34" charset="-120"/>
              </a:rPr>
              <a:t>Stop bad code at the door</a:t>
            </a:r>
            <a:endParaRPr lang="en-US" sz="6000" dirty="0"/>
          </a:p>
        </p:txBody>
      </p:sp>
      <p:sp>
        <p:nvSpPr>
          <p:cNvPr id="5" name="Text 3"/>
          <p:cNvSpPr/>
          <p:nvPr/>
        </p:nvSpPr>
        <p:spPr>
          <a:xfrm>
            <a:off x="812800" y="3860800"/>
            <a:ext cx="9156700" cy="749300"/>
          </a:xfrm>
          <a:prstGeom prst="rect">
            <a:avLst/>
          </a:prstGeom>
          <a:noFill/>
          <a:ln/>
        </p:spPr>
        <p:txBody>
          <a:bodyPr wrap="square" lIns="0" tIns="0" rIns="0" bIns="0" rtlCol="0" anchor="t">
            <a:normAutofit/>
          </a:bodyPr>
          <a:lstStyle/>
          <a:p>
            <a:pPr algn="l" indent="0" marL="0">
              <a:lnSpc>
                <a:spcPts val="2860"/>
              </a:lnSpc>
              <a:buNone/>
            </a:pPr>
            <a:r>
              <a:rPr lang="en-US" sz="2200" dirty="0">
                <a:solidFill>
                  <a:srgbClr val="B9C6D2"/>
                </a:solidFill>
                <a:latin typeface="IBM Plex Sans" pitchFamily="34" charset="0"/>
                <a:ea typeface="IBM Plex Sans" pitchFamily="34" charset="-122"/>
                <a:cs typeface="IBM Plex Sans" pitchFamily="34" charset="-120"/>
              </a:rPr>
              <a:t>The Enterprise Coding Standard checks every update set at Scan &amp; Complete, and tells the developer how to fix what it finds.</a:t>
            </a:r>
            <a:endParaRPr lang="en-US" sz="2200" dirty="0"/>
          </a:p>
        </p:txBody>
      </p:sp>
      <p:sp>
        <p:nvSpPr>
          <p:cNvPr id="6" name="Text 4"/>
          <p:cNvSpPr/>
          <p:nvPr/>
        </p:nvSpPr>
        <p:spPr>
          <a:xfrm>
            <a:off x="812800" y="6242050"/>
            <a:ext cx="7848600" cy="23495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FA1B3"/>
                </a:solidFill>
                <a:latin typeface="IBM Plex Sans" pitchFamily="34" charset="0"/>
                <a:ea typeface="IBM Plex Sans" pitchFamily="34" charset="-122"/>
                <a:cs typeface="IBM Plex Sans" pitchFamily="34" charset="-120"/>
              </a:rPr>
              <a:t>Roger Poore | October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2EC"/>
        </a:solidFill>
      </p:bgPr>
    </p:bg>
    <p:spTree>
      <p:nvGrpSpPr>
        <p:cNvPr id="1" name=""/>
        <p:cNvGrpSpPr/>
        <p:nvPr/>
      </p:nvGrpSpPr>
      <p:grpSpPr>
        <a:xfrm>
          <a:off x="0" y="0"/>
          <a:ext cx="0" cy="0"/>
          <a:chOff x="0" y="0"/>
          <a:chExt cx="0" cy="0"/>
        </a:xfrm>
      </p:grpSpPr>
      <p:sp>
        <p:nvSpPr>
          <p:cNvPr id="2" name="Text 0"/>
          <p:cNvSpPr/>
          <p:nvPr/>
        </p:nvSpPr>
        <p:spPr>
          <a:xfrm>
            <a:off x="812800" y="812800"/>
            <a:ext cx="10883392" cy="23495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B4561A"/>
                </a:solidFill>
                <a:latin typeface="JetBrains Mono" pitchFamily="49" charset="0"/>
                <a:ea typeface="JetBrains Mono" pitchFamily="49" charset="-122"/>
                <a:cs typeface="JetBrains Mono" pitchFamily="49" charset="-120"/>
              </a:rPr>
              <a:t>THE PROBLEM</a:t>
            </a:r>
            <a:endParaRPr lang="en-US" sz="1200" dirty="0"/>
          </a:p>
        </p:txBody>
      </p:sp>
      <p:sp>
        <p:nvSpPr>
          <p:cNvPr id="3" name="Text 1"/>
          <p:cNvSpPr/>
          <p:nvPr>
            <p:ph type="title"/>
          </p:nvPr>
        </p:nvSpPr>
        <p:spPr>
          <a:xfrm>
            <a:off x="812800" y="1174750"/>
            <a:ext cx="9810750" cy="102870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2202E"/>
                </a:solidFill>
                <a:latin typeface="IBM Plex Sans" pitchFamily="34" charset="0"/>
                <a:ea typeface="IBM Plex Sans" pitchFamily="34" charset="-122"/>
                <a:cs typeface="IBM Plex Sans" pitchFamily="34" charset="-120"/>
              </a:rPr>
              <a:t>Today we find coding problems in production</a:t>
            </a:r>
            <a:endParaRPr lang="en-US" sz="3600" dirty="0"/>
          </a:p>
        </p:txBody>
      </p:sp>
      <p:sp>
        <p:nvSpPr>
          <p:cNvPr id="4" name="Shape 2"/>
          <p:cNvSpPr/>
          <p:nvPr/>
        </p:nvSpPr>
        <p:spPr>
          <a:xfrm>
            <a:off x="812800" y="4013200"/>
            <a:ext cx="6421140" cy="2032000"/>
          </a:xfrm>
          <a:prstGeom prst="rect">
            <a:avLst/>
          </a:prstGeom>
          <a:solidFill>
            <a:srgbClr val="FFFDF8"/>
          </a:solidFill>
          <a:ln/>
        </p:spPr>
      </p:sp>
      <p:sp>
        <p:nvSpPr>
          <p:cNvPr id="5" name="Shape 3"/>
          <p:cNvSpPr/>
          <p:nvPr/>
        </p:nvSpPr>
        <p:spPr>
          <a:xfrm>
            <a:off x="838200" y="4013200"/>
            <a:ext cx="0" cy="2032000"/>
          </a:xfrm>
          <a:prstGeom prst="line">
            <a:avLst/>
          </a:prstGeom>
          <a:noFill/>
          <a:ln w="50800">
            <a:solidFill>
              <a:srgbClr val="E8833A"/>
            </a:solidFill>
            <a:prstDash val="solid"/>
          </a:ln>
        </p:spPr>
      </p:sp>
      <p:sp>
        <p:nvSpPr>
          <p:cNvPr id="6" name="Text 4"/>
          <p:cNvSpPr/>
          <p:nvPr/>
        </p:nvSpPr>
        <p:spPr>
          <a:xfrm>
            <a:off x="1168400" y="4318000"/>
            <a:ext cx="5933562" cy="1111250"/>
          </a:xfrm>
          <a:prstGeom prst="rect">
            <a:avLst/>
          </a:prstGeom>
          <a:noFill/>
          <a:ln/>
        </p:spPr>
        <p:txBody>
          <a:bodyPr wrap="square" lIns="0" tIns="0" rIns="0" bIns="0" rtlCol="0" anchor="t">
            <a:normAutofit/>
          </a:bodyPr>
          <a:lstStyle/>
          <a:p>
            <a:pPr algn="l" indent="0" marL="0">
              <a:lnSpc>
                <a:spcPts val="2860"/>
              </a:lnSpc>
              <a:buNone/>
            </a:pPr>
            <a:r>
              <a:rPr lang="en-US" sz="2200" i="1" dirty="0">
                <a:solidFill>
                  <a:srgbClr val="12202E"/>
                </a:solidFill>
                <a:latin typeface="IBM Plex Sans" pitchFamily="34" charset="0"/>
                <a:ea typeface="IBM Plex Sans" pitchFamily="34" charset="-122"/>
                <a:cs typeface="IBM Plex Sans" pitchFamily="34" charset="-120"/>
              </a:rPr>
              <a:t>“[One real incident: what was promoted, what broke, and how long it took to trace back to the code.]”</a:t>
            </a:r>
            <a:endParaRPr lang="en-US" sz="2200" dirty="0"/>
          </a:p>
        </p:txBody>
      </p:sp>
      <p:sp>
        <p:nvSpPr>
          <p:cNvPr id="7" name="Text 5"/>
          <p:cNvSpPr/>
          <p:nvPr/>
        </p:nvSpPr>
        <p:spPr>
          <a:xfrm>
            <a:off x="1168400" y="5530850"/>
            <a:ext cx="5933562" cy="23495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525E"/>
                </a:solidFill>
                <a:latin typeface="IBM Plex Sans" pitchFamily="34" charset="0"/>
                <a:ea typeface="IBM Plex Sans" pitchFamily="34" charset="-122"/>
                <a:cs typeface="IBM Plex Sans" pitchFamily="34" charset="-120"/>
              </a:rPr>
              <a:t>[Source / date]</a:t>
            </a:r>
            <a:endParaRPr lang="en-US" sz="1200" dirty="0"/>
          </a:p>
        </p:txBody>
      </p:sp>
      <p:sp>
        <p:nvSpPr>
          <p:cNvPr id="8" name="Text 6"/>
          <p:cNvSpPr/>
          <p:nvPr/>
        </p:nvSpPr>
        <p:spPr>
          <a:xfrm>
            <a:off x="7538740" y="4394200"/>
            <a:ext cx="3955674" cy="58420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6525E"/>
                </a:solidFill>
                <a:latin typeface="IBM Plex Sans" pitchFamily="34" charset="0"/>
                <a:ea typeface="IBM Plex Sans" pitchFamily="34" charset="-122"/>
                <a:cs typeface="IBM Plex Sans" pitchFamily="34" charset="-120"/>
              </a:rPr>
              <a:t>Review standards lived in people’s heads, and the old checks were inconsistent.</a:t>
            </a:r>
            <a:endParaRPr lang="en-US" sz="1600" dirty="0"/>
          </a:p>
        </p:txBody>
      </p:sp>
      <p:sp>
        <p:nvSpPr>
          <p:cNvPr id="9" name="Text 7"/>
          <p:cNvSpPr/>
          <p:nvPr/>
        </p:nvSpPr>
        <p:spPr>
          <a:xfrm>
            <a:off x="7538740" y="5105400"/>
            <a:ext cx="3955674" cy="58420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6525E"/>
                </a:solidFill>
                <a:latin typeface="IBM Plex Sans" pitchFamily="34" charset="0"/>
                <a:ea typeface="IBM Plex Sans" pitchFamily="34" charset="-122"/>
                <a:cs typeface="IBM Plex Sans" pitchFamily="34" charset="-120"/>
              </a:rPr>
              <a:t>By the time someone noticed, the code had already moved on.</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2EC"/>
        </a:solidFill>
      </p:bgPr>
    </p:bg>
    <p:spTree>
      <p:nvGrpSpPr>
        <p:cNvPr id="1" name=""/>
        <p:cNvGrpSpPr/>
        <p:nvPr/>
      </p:nvGrpSpPr>
      <p:grpSpPr>
        <a:xfrm>
          <a:off x="0" y="0"/>
          <a:ext cx="0" cy="0"/>
          <a:chOff x="0" y="0"/>
          <a:chExt cx="0" cy="0"/>
        </a:xfrm>
      </p:grpSpPr>
      <p:sp>
        <p:nvSpPr>
          <p:cNvPr id="2" name="Text 0"/>
          <p:cNvSpPr/>
          <p:nvPr/>
        </p:nvSpPr>
        <p:spPr>
          <a:xfrm>
            <a:off x="812800" y="812800"/>
            <a:ext cx="10883392" cy="23495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B4561A"/>
                </a:solidFill>
                <a:latin typeface="JetBrains Mono" pitchFamily="49" charset="0"/>
                <a:ea typeface="JetBrains Mono" pitchFamily="49" charset="-122"/>
                <a:cs typeface="JetBrains Mono" pitchFamily="49" charset="-120"/>
              </a:rPr>
              <a:t>THE PROCESS</a:t>
            </a:r>
            <a:endParaRPr lang="en-US" sz="1200" dirty="0"/>
          </a:p>
        </p:txBody>
      </p:sp>
      <p:sp>
        <p:nvSpPr>
          <p:cNvPr id="3" name="Text 1"/>
          <p:cNvSpPr/>
          <p:nvPr>
            <p:ph type="title"/>
          </p:nvPr>
        </p:nvSpPr>
        <p:spPr>
          <a:xfrm>
            <a:off x="812800" y="1174750"/>
            <a:ext cx="10883392" cy="52705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2202E"/>
                </a:solidFill>
                <a:latin typeface="IBM Plex Sans" pitchFamily="34" charset="0"/>
                <a:ea typeface="IBM Plex Sans" pitchFamily="34" charset="-122"/>
                <a:cs typeface="IBM Plex Sans" pitchFamily="34" charset="-120"/>
              </a:rPr>
              <a:t>One gate, at the moment the work is finished</a:t>
            </a:r>
            <a:endParaRPr lang="en-US" sz="3600" dirty="0"/>
          </a:p>
        </p:txBody>
      </p:sp>
      <p:sp>
        <p:nvSpPr>
          <p:cNvPr id="4" name="Shape 2"/>
          <p:cNvSpPr/>
          <p:nvPr/>
        </p:nvSpPr>
        <p:spPr>
          <a:xfrm>
            <a:off x="819150" y="3038475"/>
            <a:ext cx="1772146" cy="1365250"/>
          </a:xfrm>
          <a:prstGeom prst="roundRect">
            <a:avLst>
              <a:gd name="adj" fmla="val 6977"/>
            </a:avLst>
          </a:prstGeom>
          <a:solidFill>
            <a:srgbClr val="FFFDF8"/>
          </a:solidFill>
          <a:ln w="12700">
            <a:solidFill>
              <a:srgbClr val="D5D2C8"/>
            </a:solidFill>
            <a:prstDash val="solid"/>
          </a:ln>
        </p:spPr>
      </p:sp>
      <p:sp>
        <p:nvSpPr>
          <p:cNvPr id="5" name="Text 3"/>
          <p:cNvSpPr/>
          <p:nvPr/>
        </p:nvSpPr>
        <p:spPr>
          <a:xfrm>
            <a:off x="1028700" y="3248025"/>
            <a:ext cx="1403846" cy="26670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2202E"/>
                </a:solidFill>
                <a:latin typeface="IBM Plex Sans" pitchFamily="34" charset="0"/>
                <a:ea typeface="IBM Plex Sans" pitchFamily="34" charset="-122"/>
                <a:cs typeface="IBM Plex Sans" pitchFamily="34" charset="-120"/>
              </a:rPr>
              <a:t>Developer</a:t>
            </a:r>
            <a:endParaRPr lang="en-US" sz="1600" dirty="0"/>
          </a:p>
        </p:txBody>
      </p:sp>
      <p:sp>
        <p:nvSpPr>
          <p:cNvPr id="6" name="Text 4"/>
          <p:cNvSpPr/>
          <p:nvPr/>
        </p:nvSpPr>
        <p:spPr>
          <a:xfrm>
            <a:off x="1028700" y="3565525"/>
            <a:ext cx="1403846" cy="65405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525E"/>
                </a:solidFill>
                <a:latin typeface="IBM Plex Sans" pitchFamily="34" charset="0"/>
                <a:ea typeface="IBM Plex Sans" pitchFamily="34" charset="-122"/>
                <a:cs typeface="IBM Plex Sans" pitchFamily="34" charset="-120"/>
              </a:rPr>
              <a:t>Clicks Scan &amp; Complete on the update set</a:t>
            </a:r>
            <a:endParaRPr lang="en-US" sz="1200" dirty="0"/>
          </a:p>
        </p:txBody>
      </p:sp>
      <p:pic>
        <p:nvPicPr>
          <p:cNvPr id="7" name="Image 0" descr="PaperPlane">    </p:cNvPr>
          <p:cNvPicPr>
            <a:picLocks noChangeAspect="1"/>
          </p:cNvPicPr>
          <p:nvPr/>
        </p:nvPicPr>
        <p:blipFill>
          <a:blip r:embed="rId1"/>
          <a:srcRect l="0" r="0" t="0" b="0"/>
          <a:stretch/>
        </p:blipFill>
        <p:spPr>
          <a:xfrm>
            <a:off x="2699246" y="3594100"/>
            <a:ext cx="254000" cy="254000"/>
          </a:xfrm>
          <a:prstGeom prst="rect">
            <a:avLst/>
          </a:prstGeom>
        </p:spPr>
      </p:pic>
      <p:sp>
        <p:nvSpPr>
          <p:cNvPr id="8" name="Shape 5"/>
          <p:cNvSpPr/>
          <p:nvPr/>
        </p:nvSpPr>
        <p:spPr>
          <a:xfrm>
            <a:off x="3054846" y="3028950"/>
            <a:ext cx="1759446" cy="1384300"/>
          </a:xfrm>
          <a:prstGeom prst="roundRect">
            <a:avLst>
              <a:gd name="adj" fmla="val 7339"/>
            </a:avLst>
          </a:prstGeom>
          <a:solidFill>
            <a:srgbClr val="12202E"/>
          </a:solidFill>
          <a:ln/>
        </p:spPr>
      </p:sp>
      <p:sp>
        <p:nvSpPr>
          <p:cNvPr id="9" name="Text 6"/>
          <p:cNvSpPr/>
          <p:nvPr/>
        </p:nvSpPr>
        <p:spPr>
          <a:xfrm>
            <a:off x="3258046" y="3232150"/>
            <a:ext cx="1403846" cy="50800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4F2EC"/>
                </a:solidFill>
                <a:latin typeface="IBM Plex Sans" pitchFamily="34" charset="0"/>
                <a:ea typeface="IBM Plex Sans" pitchFamily="34" charset="-122"/>
                <a:cs typeface="IBM Plex Sans" pitchFamily="34" charset="-120"/>
              </a:rPr>
              <a:t>40 ECS checks</a:t>
            </a:r>
            <a:endParaRPr lang="en-US" sz="1600" dirty="0"/>
          </a:p>
        </p:txBody>
      </p:sp>
      <p:sp>
        <p:nvSpPr>
          <p:cNvPr id="10" name="Text 7"/>
          <p:cNvSpPr/>
          <p:nvPr/>
        </p:nvSpPr>
        <p:spPr>
          <a:xfrm>
            <a:off x="3258046" y="3790950"/>
            <a:ext cx="1403846" cy="44450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9C6D2"/>
                </a:solidFill>
                <a:latin typeface="IBM Plex Sans" pitchFamily="34" charset="0"/>
                <a:ea typeface="IBM Plex Sans" pitchFamily="34" charset="-122"/>
                <a:cs typeface="IBM Plex Sans" pitchFamily="34" charset="-120"/>
              </a:rPr>
              <a:t>Scan only what this update set contains</a:t>
            </a:r>
            <a:endParaRPr lang="en-US" sz="1200" dirty="0"/>
          </a:p>
        </p:txBody>
      </p:sp>
      <p:pic>
        <p:nvPicPr>
          <p:cNvPr id="11" name="Image 1" descr="PaperPlane">    </p:cNvPr>
          <p:cNvPicPr>
            <a:picLocks noChangeAspect="1"/>
          </p:cNvPicPr>
          <p:nvPr/>
        </p:nvPicPr>
        <p:blipFill>
          <a:blip r:embed="rId2"/>
          <a:srcRect l="0" r="0" t="0" b="0"/>
          <a:stretch/>
        </p:blipFill>
        <p:spPr>
          <a:xfrm>
            <a:off x="4915892" y="3594100"/>
            <a:ext cx="254000" cy="254000"/>
          </a:xfrm>
          <a:prstGeom prst="rect">
            <a:avLst/>
          </a:prstGeom>
        </p:spPr>
      </p:pic>
      <p:sp>
        <p:nvSpPr>
          <p:cNvPr id="12" name="Shape 8"/>
          <p:cNvSpPr/>
          <p:nvPr/>
        </p:nvSpPr>
        <p:spPr>
          <a:xfrm>
            <a:off x="5277842" y="2562225"/>
            <a:ext cx="1610916" cy="1200150"/>
          </a:xfrm>
          <a:prstGeom prst="roundRect">
            <a:avLst>
              <a:gd name="adj" fmla="val 7937"/>
            </a:avLst>
          </a:prstGeom>
          <a:solidFill>
            <a:srgbClr val="FBE3CF"/>
          </a:solidFill>
          <a:ln w="12700">
            <a:solidFill>
              <a:srgbClr val="E8833A"/>
            </a:solidFill>
            <a:prstDash val="solid"/>
          </a:ln>
        </p:spPr>
      </p:sp>
      <p:sp>
        <p:nvSpPr>
          <p:cNvPr id="13" name="Text 9"/>
          <p:cNvSpPr/>
          <p:nvPr/>
        </p:nvSpPr>
        <p:spPr>
          <a:xfrm>
            <a:off x="5436592" y="2720975"/>
            <a:ext cx="1344216" cy="26670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2202E"/>
                </a:solidFill>
                <a:latin typeface="IBM Plex Sans" pitchFamily="34" charset="0"/>
                <a:ea typeface="IBM Plex Sans" pitchFamily="34" charset="-122"/>
                <a:cs typeface="IBM Plex Sans" pitchFamily="34" charset="-120"/>
              </a:rPr>
              <a:t>Priority 1–2</a:t>
            </a:r>
            <a:endParaRPr lang="en-US" sz="1600" dirty="0"/>
          </a:p>
        </p:txBody>
      </p:sp>
      <p:sp>
        <p:nvSpPr>
          <p:cNvPr id="14" name="Text 10"/>
          <p:cNvSpPr/>
          <p:nvPr/>
        </p:nvSpPr>
        <p:spPr>
          <a:xfrm>
            <a:off x="5436592" y="3013075"/>
            <a:ext cx="1344216" cy="61595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6525E"/>
                </a:solidFill>
                <a:latin typeface="IBM Plex Sans" pitchFamily="34" charset="0"/>
                <a:ea typeface="IBM Plex Sans" pitchFamily="34" charset="-122"/>
                <a:cs typeface="IBM Plex Sans" pitchFamily="34" charset="-120"/>
              </a:rPr>
              <a:t>Blocked: fix, or request an exception</a:t>
            </a:r>
            <a:endParaRPr lang="en-US" sz="1200" dirty="0"/>
          </a:p>
        </p:txBody>
      </p:sp>
      <p:sp>
        <p:nvSpPr>
          <p:cNvPr id="15" name="Shape 11"/>
          <p:cNvSpPr/>
          <p:nvPr/>
        </p:nvSpPr>
        <p:spPr>
          <a:xfrm>
            <a:off x="5277842" y="3876675"/>
            <a:ext cx="1610916" cy="1003300"/>
          </a:xfrm>
          <a:prstGeom prst="roundRect">
            <a:avLst>
              <a:gd name="adj" fmla="val 9494"/>
            </a:avLst>
          </a:prstGeom>
          <a:solidFill>
            <a:srgbClr val="DCE8F4"/>
          </a:solidFill>
          <a:ln w="12700">
            <a:solidFill>
              <a:srgbClr val="2F6FB0"/>
            </a:solidFill>
            <a:prstDash val="solid"/>
          </a:ln>
        </p:spPr>
      </p:sp>
      <p:sp>
        <p:nvSpPr>
          <p:cNvPr id="16" name="Text 12"/>
          <p:cNvSpPr/>
          <p:nvPr/>
        </p:nvSpPr>
        <p:spPr>
          <a:xfrm>
            <a:off x="5436592" y="4035425"/>
            <a:ext cx="1344216" cy="26670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2202E"/>
                </a:solidFill>
                <a:latin typeface="IBM Plex Sans" pitchFamily="34" charset="0"/>
                <a:ea typeface="IBM Plex Sans" pitchFamily="34" charset="-122"/>
                <a:cs typeface="IBM Plex Sans" pitchFamily="34" charset="-120"/>
              </a:rPr>
              <a:t>Priority 3–4</a:t>
            </a:r>
            <a:endParaRPr lang="en-US" sz="1600" dirty="0"/>
          </a:p>
        </p:txBody>
      </p:sp>
      <p:sp>
        <p:nvSpPr>
          <p:cNvPr id="17" name="Text 13"/>
          <p:cNvSpPr/>
          <p:nvPr/>
        </p:nvSpPr>
        <p:spPr>
          <a:xfrm>
            <a:off x="5436592" y="4327525"/>
            <a:ext cx="1344216" cy="41910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6525E"/>
                </a:solidFill>
                <a:latin typeface="IBM Plex Sans" pitchFamily="34" charset="0"/>
                <a:ea typeface="IBM Plex Sans" pitchFamily="34" charset="-122"/>
                <a:cs typeface="IBM Plex Sans" pitchFamily="34" charset="-120"/>
              </a:rPr>
              <a:t>Passed on to the reviewer</a:t>
            </a:r>
            <a:endParaRPr lang="en-US" sz="1200" dirty="0"/>
          </a:p>
        </p:txBody>
      </p:sp>
      <p:pic>
        <p:nvPicPr>
          <p:cNvPr id="18" name="Image 2" descr="PaperPlane">    </p:cNvPr>
          <p:cNvPicPr>
            <a:picLocks noChangeAspect="1"/>
          </p:cNvPicPr>
          <p:nvPr/>
        </p:nvPicPr>
        <p:blipFill>
          <a:blip r:embed="rId3"/>
          <a:srcRect l="0" r="0" t="0" b="0"/>
          <a:stretch/>
        </p:blipFill>
        <p:spPr>
          <a:xfrm>
            <a:off x="6996708" y="3594100"/>
            <a:ext cx="254000" cy="254000"/>
          </a:xfrm>
          <a:prstGeom prst="rect">
            <a:avLst/>
          </a:prstGeom>
        </p:spPr>
      </p:pic>
      <p:sp>
        <p:nvSpPr>
          <p:cNvPr id="19" name="Shape 14"/>
          <p:cNvSpPr/>
          <p:nvPr/>
        </p:nvSpPr>
        <p:spPr>
          <a:xfrm>
            <a:off x="7358658" y="3143250"/>
            <a:ext cx="1772146" cy="1155700"/>
          </a:xfrm>
          <a:prstGeom prst="roundRect">
            <a:avLst>
              <a:gd name="adj" fmla="val 8242"/>
            </a:avLst>
          </a:prstGeom>
          <a:solidFill>
            <a:srgbClr val="FFFDF8"/>
          </a:solidFill>
          <a:ln w="12700">
            <a:solidFill>
              <a:srgbClr val="D5D2C8"/>
            </a:solidFill>
            <a:prstDash val="solid"/>
          </a:ln>
        </p:spPr>
      </p:sp>
      <p:sp>
        <p:nvSpPr>
          <p:cNvPr id="20" name="Text 15"/>
          <p:cNvSpPr/>
          <p:nvPr/>
        </p:nvSpPr>
        <p:spPr>
          <a:xfrm>
            <a:off x="7568208" y="3352800"/>
            <a:ext cx="1403846" cy="26670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2202E"/>
                </a:solidFill>
                <a:latin typeface="IBM Plex Sans" pitchFamily="34" charset="0"/>
                <a:ea typeface="IBM Plex Sans" pitchFamily="34" charset="-122"/>
                <a:cs typeface="IBM Plex Sans" pitchFamily="34" charset="-120"/>
              </a:rPr>
              <a:t>Peer review</a:t>
            </a:r>
            <a:endParaRPr lang="en-US" sz="1600" dirty="0"/>
          </a:p>
        </p:txBody>
      </p:sp>
      <p:sp>
        <p:nvSpPr>
          <p:cNvPr id="21" name="Text 16"/>
          <p:cNvSpPr/>
          <p:nvPr/>
        </p:nvSpPr>
        <p:spPr>
          <a:xfrm>
            <a:off x="7568208" y="3670300"/>
            <a:ext cx="1403846" cy="44450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525E"/>
                </a:solidFill>
                <a:latin typeface="IBM Plex Sans" pitchFamily="34" charset="0"/>
                <a:ea typeface="IBM Plex Sans" pitchFamily="34" charset="-122"/>
                <a:cs typeface="IBM Plex Sans" pitchFamily="34" charset="-120"/>
              </a:rPr>
              <a:t>Reviewer sees the remaining findings</a:t>
            </a:r>
            <a:endParaRPr lang="en-US" sz="1200" dirty="0"/>
          </a:p>
        </p:txBody>
      </p:sp>
      <p:pic>
        <p:nvPicPr>
          <p:cNvPr id="22" name="Image 3" descr="PaperPlane">    </p:cNvPr>
          <p:cNvPicPr>
            <a:picLocks noChangeAspect="1"/>
          </p:cNvPicPr>
          <p:nvPr/>
        </p:nvPicPr>
        <p:blipFill>
          <a:blip r:embed="rId4"/>
          <a:srcRect l="0" r="0" t="0" b="0"/>
          <a:stretch/>
        </p:blipFill>
        <p:spPr>
          <a:xfrm>
            <a:off x="9238754" y="3594100"/>
            <a:ext cx="254000" cy="254000"/>
          </a:xfrm>
          <a:prstGeom prst="rect">
            <a:avLst/>
          </a:prstGeom>
        </p:spPr>
      </p:pic>
      <p:sp>
        <p:nvSpPr>
          <p:cNvPr id="23" name="Shape 17"/>
          <p:cNvSpPr/>
          <p:nvPr/>
        </p:nvSpPr>
        <p:spPr>
          <a:xfrm>
            <a:off x="9600704" y="3143250"/>
            <a:ext cx="1772146" cy="1155700"/>
          </a:xfrm>
          <a:prstGeom prst="roundRect">
            <a:avLst>
              <a:gd name="adj" fmla="val 8242"/>
            </a:avLst>
          </a:prstGeom>
          <a:solidFill>
            <a:srgbClr val="FFFDF8"/>
          </a:solidFill>
          <a:ln w="12700">
            <a:solidFill>
              <a:srgbClr val="D5D2C8"/>
            </a:solidFill>
            <a:prstDash val="solid"/>
          </a:ln>
        </p:spPr>
      </p:sp>
      <p:sp>
        <p:nvSpPr>
          <p:cNvPr id="24" name="Text 18"/>
          <p:cNvSpPr/>
          <p:nvPr/>
        </p:nvSpPr>
        <p:spPr>
          <a:xfrm>
            <a:off x="9810254" y="3352800"/>
            <a:ext cx="1403846" cy="26670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2202E"/>
                </a:solidFill>
                <a:latin typeface="IBM Plex Sans" pitchFamily="34" charset="0"/>
                <a:ea typeface="IBM Plex Sans" pitchFamily="34" charset="-122"/>
                <a:cs typeface="IBM Plex Sans" pitchFamily="34" charset="-120"/>
              </a:rPr>
              <a:t>Promotion</a:t>
            </a:r>
            <a:endParaRPr lang="en-US" sz="1600" dirty="0"/>
          </a:p>
        </p:txBody>
      </p:sp>
      <p:sp>
        <p:nvSpPr>
          <p:cNvPr id="25" name="Text 19"/>
          <p:cNvSpPr/>
          <p:nvPr/>
        </p:nvSpPr>
        <p:spPr>
          <a:xfrm>
            <a:off x="9810254" y="3670300"/>
            <a:ext cx="1403846" cy="44450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525E"/>
                </a:solidFill>
                <a:latin typeface="IBM Plex Sans" pitchFamily="34" charset="0"/>
                <a:ea typeface="IBM Plex Sans" pitchFamily="34" charset="-122"/>
                <a:cs typeface="IBM Plex Sans" pitchFamily="34" charset="-120"/>
              </a:rPr>
              <a:t>Clean code moves on</a:t>
            </a:r>
            <a:endParaRPr lang="en-US" sz="1200" dirty="0"/>
          </a:p>
        </p:txBody>
      </p:sp>
      <p:sp>
        <p:nvSpPr>
          <p:cNvPr id="26" name="Text 20"/>
          <p:cNvSpPr/>
          <p:nvPr/>
        </p:nvSpPr>
        <p:spPr>
          <a:xfrm>
            <a:off x="812800" y="5765800"/>
            <a:ext cx="10883392" cy="30480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6525E"/>
                </a:solidFill>
                <a:latin typeface="IBM Plex Sans" pitchFamily="34" charset="0"/>
                <a:ea typeface="IBM Plex Sans" pitchFamily="34" charset="-122"/>
                <a:cs typeface="IBM Plex Sans" pitchFamily="34" charset="-120"/>
              </a:rPr>
              <a:t>Same button developers already use. No new step to learn.</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E8833A"/>
        </a:solidFill>
      </p:bgPr>
    </p:bg>
    <p:spTree>
      <p:nvGrpSpPr>
        <p:cNvPr id="1" name=""/>
        <p:cNvGrpSpPr/>
        <p:nvPr/>
      </p:nvGrpSpPr>
      <p:grpSpPr>
        <a:xfrm>
          <a:off x="0" y="0"/>
          <a:ext cx="0" cy="0"/>
          <a:chOff x="0" y="0"/>
          <a:chExt cx="0" cy="0"/>
        </a:xfrm>
      </p:grpSpPr>
      <p:sp>
        <p:nvSpPr>
          <p:cNvPr id="2" name="Text 0"/>
          <p:cNvSpPr/>
          <p:nvPr/>
        </p:nvSpPr>
        <p:spPr>
          <a:xfrm>
            <a:off x="812800" y="812800"/>
            <a:ext cx="10883392" cy="23495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12202E"/>
                </a:solidFill>
                <a:latin typeface="JetBrains Mono" pitchFamily="49" charset="0"/>
                <a:ea typeface="JetBrains Mono" pitchFamily="49" charset="-122"/>
                <a:cs typeface="JetBrains Mono" pitchFamily="49" charset="-120"/>
              </a:rPr>
              <a:t>LIVE DEMO</a:t>
            </a:r>
            <a:endParaRPr lang="en-US" sz="1200" dirty="0"/>
          </a:p>
        </p:txBody>
      </p:sp>
      <p:sp>
        <p:nvSpPr>
          <p:cNvPr id="3" name="Text 1"/>
          <p:cNvSpPr/>
          <p:nvPr>
            <p:ph type="title"/>
          </p:nvPr>
        </p:nvSpPr>
        <p:spPr>
          <a:xfrm>
            <a:off x="812800" y="1174750"/>
            <a:ext cx="10883392" cy="825500"/>
          </a:xfrm>
          <a:prstGeom prst="rect">
            <a:avLst/>
          </a:prstGeom>
          <a:noFill/>
          <a:ln/>
        </p:spPr>
        <p:txBody>
          <a:bodyPr wrap="square" lIns="0" tIns="0" rIns="0" bIns="0" rtlCol="0" anchor="t">
            <a:normAutofit/>
          </a:bodyPr>
          <a:lstStyle/>
          <a:p>
            <a:pPr algn="l" indent="0" marL="0">
              <a:lnSpc>
                <a:spcPts val="6300"/>
              </a:lnSpc>
              <a:buNone/>
            </a:pPr>
            <a:r>
              <a:rPr lang="en-US" sz="6000" b="1" i="0" dirty="0">
                <a:solidFill>
                  <a:srgbClr val="12202E"/>
                </a:solidFill>
                <a:latin typeface="IBM Plex Sans" pitchFamily="34" charset="0"/>
                <a:ea typeface="IBM Plex Sans" pitchFamily="34" charset="-122"/>
                <a:cs typeface="IBM Plex Sans" pitchFamily="34" charset="-120"/>
              </a:rPr>
              <a:t>Three planted problems</a:t>
            </a:r>
            <a:endParaRPr lang="en-US" sz="6000" dirty="0"/>
          </a:p>
        </p:txBody>
      </p:sp>
      <p:sp>
        <p:nvSpPr>
          <p:cNvPr id="4" name="Shape 2"/>
          <p:cNvSpPr/>
          <p:nvPr/>
        </p:nvSpPr>
        <p:spPr>
          <a:xfrm>
            <a:off x="812800" y="3924300"/>
            <a:ext cx="10566400" cy="0"/>
          </a:xfrm>
          <a:prstGeom prst="line">
            <a:avLst/>
          </a:prstGeom>
          <a:noFill/>
          <a:ln w="12700">
            <a:solidFill>
              <a:srgbClr val="12202E"/>
            </a:solidFill>
            <a:prstDash val="solid"/>
          </a:ln>
        </p:spPr>
      </p:sp>
      <p:sp>
        <p:nvSpPr>
          <p:cNvPr id="5" name="Text 3"/>
          <p:cNvSpPr/>
          <p:nvPr/>
        </p:nvSpPr>
        <p:spPr>
          <a:xfrm>
            <a:off x="812800" y="4171950"/>
            <a:ext cx="2092960" cy="30480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2202E"/>
                </a:solidFill>
                <a:latin typeface="JetBrains Mono" pitchFamily="49" charset="0"/>
                <a:ea typeface="JetBrains Mono" pitchFamily="49" charset="-122"/>
                <a:cs typeface="JetBrains Mono" pitchFamily="49" charset="-120"/>
              </a:rPr>
              <a:t>SEC-001</a:t>
            </a:r>
            <a:endParaRPr lang="en-US" sz="1600" dirty="0"/>
          </a:p>
        </p:txBody>
      </p:sp>
      <p:sp>
        <p:nvSpPr>
          <p:cNvPr id="6" name="Text 4"/>
          <p:cNvSpPr/>
          <p:nvPr/>
        </p:nvSpPr>
        <p:spPr>
          <a:xfrm>
            <a:off x="3149600" y="4083050"/>
            <a:ext cx="6243280" cy="412750"/>
          </a:xfrm>
          <a:prstGeom prst="rect">
            <a:avLst/>
          </a:prstGeom>
          <a:noFill/>
          <a:ln/>
        </p:spPr>
        <p:txBody>
          <a:bodyPr wrap="square" lIns="0" tIns="0" rIns="0" bIns="0" rtlCol="0" anchor="t">
            <a:normAutofit/>
          </a:bodyPr>
          <a:lstStyle/>
          <a:p>
            <a:pPr algn="l" indent="0" marL="0">
              <a:lnSpc>
                <a:spcPts val="3080"/>
              </a:lnSpc>
              <a:buNone/>
            </a:pPr>
            <a:r>
              <a:rPr lang="en-US" sz="2200" dirty="0">
                <a:solidFill>
                  <a:srgbClr val="12202E"/>
                </a:solidFill>
                <a:latin typeface="IBM Plex Sans" pitchFamily="34" charset="0"/>
                <a:ea typeface="IBM Plex Sans" pitchFamily="34" charset="-122"/>
                <a:cs typeface="IBM Plex Sans" pitchFamily="34" charset="-120"/>
              </a:rPr>
              <a:t>A hardcoded password in a Script Include</a:t>
            </a:r>
            <a:endParaRPr lang="en-US" sz="2200" dirty="0"/>
          </a:p>
        </p:txBody>
      </p:sp>
      <p:sp>
        <p:nvSpPr>
          <p:cNvPr id="7" name="Shape 5"/>
          <p:cNvSpPr/>
          <p:nvPr/>
        </p:nvSpPr>
        <p:spPr>
          <a:xfrm>
            <a:off x="812800" y="4629150"/>
            <a:ext cx="10566400" cy="0"/>
          </a:xfrm>
          <a:prstGeom prst="line">
            <a:avLst/>
          </a:prstGeom>
          <a:noFill/>
          <a:ln w="12700">
            <a:solidFill>
              <a:srgbClr val="12202E"/>
            </a:solidFill>
            <a:prstDash val="solid"/>
          </a:ln>
        </p:spPr>
      </p:sp>
      <p:sp>
        <p:nvSpPr>
          <p:cNvPr id="8" name="Text 6"/>
          <p:cNvSpPr/>
          <p:nvPr/>
        </p:nvSpPr>
        <p:spPr>
          <a:xfrm>
            <a:off x="812800" y="4876800"/>
            <a:ext cx="2092960" cy="30480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2202E"/>
                </a:solidFill>
                <a:latin typeface="JetBrains Mono" pitchFamily="49" charset="0"/>
                <a:ea typeface="JetBrains Mono" pitchFamily="49" charset="-122"/>
                <a:cs typeface="JetBrains Mono" pitchFamily="49" charset="-120"/>
              </a:rPr>
              <a:t>SN-BR-001</a:t>
            </a:r>
            <a:endParaRPr lang="en-US" sz="1600" dirty="0"/>
          </a:p>
        </p:txBody>
      </p:sp>
      <p:sp>
        <p:nvSpPr>
          <p:cNvPr id="9" name="Text 7"/>
          <p:cNvSpPr/>
          <p:nvPr/>
        </p:nvSpPr>
        <p:spPr>
          <a:xfrm>
            <a:off x="3149600" y="4787900"/>
            <a:ext cx="6332458" cy="412750"/>
          </a:xfrm>
          <a:prstGeom prst="rect">
            <a:avLst/>
          </a:prstGeom>
          <a:noFill/>
          <a:ln/>
        </p:spPr>
        <p:txBody>
          <a:bodyPr wrap="square" lIns="0" tIns="0" rIns="0" bIns="0" rtlCol="0" anchor="t">
            <a:normAutofit/>
          </a:bodyPr>
          <a:lstStyle/>
          <a:p>
            <a:pPr algn="l" indent="0" marL="0">
              <a:lnSpc>
                <a:spcPts val="3080"/>
              </a:lnSpc>
              <a:buNone/>
            </a:pPr>
            <a:r>
              <a:rPr lang="en-US" sz="2200" dirty="0">
                <a:solidFill>
                  <a:srgbClr val="12202E"/>
                </a:solidFill>
                <a:latin typeface="IBM Plex Sans" pitchFamily="34" charset="0"/>
                <a:ea typeface="IBM Plex Sans" pitchFamily="34" charset="-122"/>
                <a:cs typeface="IBM Plex Sans" pitchFamily="34" charset="-120"/>
              </a:rPr>
              <a:t>current.update() in a before Business Rule</a:t>
            </a:r>
            <a:endParaRPr lang="en-US" sz="2200" dirty="0"/>
          </a:p>
        </p:txBody>
      </p:sp>
      <p:sp>
        <p:nvSpPr>
          <p:cNvPr id="10" name="Shape 8"/>
          <p:cNvSpPr/>
          <p:nvPr/>
        </p:nvSpPr>
        <p:spPr>
          <a:xfrm>
            <a:off x="812800" y="5334000"/>
            <a:ext cx="10566400" cy="0"/>
          </a:xfrm>
          <a:prstGeom prst="line">
            <a:avLst/>
          </a:prstGeom>
          <a:noFill/>
          <a:ln w="12700">
            <a:solidFill>
              <a:srgbClr val="12202E"/>
            </a:solidFill>
            <a:prstDash val="solid"/>
          </a:ln>
        </p:spPr>
      </p:sp>
      <p:sp>
        <p:nvSpPr>
          <p:cNvPr id="11" name="Shape 9"/>
          <p:cNvSpPr/>
          <p:nvPr/>
        </p:nvSpPr>
        <p:spPr>
          <a:xfrm>
            <a:off x="812800" y="6038850"/>
            <a:ext cx="10566400" cy="0"/>
          </a:xfrm>
          <a:prstGeom prst="line">
            <a:avLst/>
          </a:prstGeom>
          <a:noFill/>
          <a:ln w="12700">
            <a:solidFill>
              <a:srgbClr val="12202E"/>
            </a:solidFill>
            <a:prstDash val="solid"/>
          </a:ln>
        </p:spPr>
      </p:sp>
      <p:sp>
        <p:nvSpPr>
          <p:cNvPr id="12" name="Text 10"/>
          <p:cNvSpPr/>
          <p:nvPr/>
        </p:nvSpPr>
        <p:spPr>
          <a:xfrm>
            <a:off x="812800" y="5581650"/>
            <a:ext cx="2092960" cy="30480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2202E"/>
                </a:solidFill>
                <a:latin typeface="JetBrains Mono" pitchFamily="49" charset="0"/>
                <a:ea typeface="JetBrains Mono" pitchFamily="49" charset="-122"/>
                <a:cs typeface="JetBrains Mono" pitchFamily="49" charset="-120"/>
              </a:rPr>
              <a:t>SN-CFG-008</a:t>
            </a:r>
            <a:endParaRPr lang="en-US" sz="1600" dirty="0"/>
          </a:p>
        </p:txBody>
      </p:sp>
      <p:sp>
        <p:nvSpPr>
          <p:cNvPr id="13" name="Text 11"/>
          <p:cNvSpPr/>
          <p:nvPr/>
        </p:nvSpPr>
        <p:spPr>
          <a:xfrm>
            <a:off x="3149600" y="5492750"/>
            <a:ext cx="5043726" cy="412750"/>
          </a:xfrm>
          <a:prstGeom prst="rect">
            <a:avLst/>
          </a:prstGeom>
          <a:noFill/>
          <a:ln/>
        </p:spPr>
        <p:txBody>
          <a:bodyPr wrap="square" lIns="0" tIns="0" rIns="0" bIns="0" rtlCol="0" anchor="t">
            <a:normAutofit/>
          </a:bodyPr>
          <a:lstStyle/>
          <a:p>
            <a:pPr algn="l" indent="0" marL="0">
              <a:lnSpc>
                <a:spcPts val="3080"/>
              </a:lnSpc>
              <a:buNone/>
            </a:pPr>
            <a:r>
              <a:rPr lang="en-US" sz="2200" dirty="0">
                <a:solidFill>
                  <a:srgbClr val="12202E"/>
                </a:solidFill>
                <a:latin typeface="IBM Plex Sans" pitchFamily="34" charset="0"/>
                <a:ea typeface="IBM Plex Sans" pitchFamily="34" charset="-122"/>
                <a:cs typeface="IBM Plex Sans" pitchFamily="34" charset="-120"/>
              </a:rPr>
              <a:t>An edit to a protected component</a:t>
            </a:r>
            <a:endParaRPr lang="en-US" sz="2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2EC"/>
        </a:solidFill>
      </p:bgPr>
    </p:bg>
    <p:spTree>
      <p:nvGrpSpPr>
        <p:cNvPr id="1" name=""/>
        <p:cNvGrpSpPr/>
        <p:nvPr/>
      </p:nvGrpSpPr>
      <p:grpSpPr>
        <a:xfrm>
          <a:off x="0" y="0"/>
          <a:ext cx="0" cy="0"/>
          <a:chOff x="0" y="0"/>
          <a:chExt cx="0" cy="0"/>
        </a:xfrm>
      </p:grpSpPr>
      <p:sp>
        <p:nvSpPr>
          <p:cNvPr id="2" name="Text 0"/>
          <p:cNvSpPr/>
          <p:nvPr/>
        </p:nvSpPr>
        <p:spPr>
          <a:xfrm>
            <a:off x="812800" y="812800"/>
            <a:ext cx="10883392" cy="23495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B4561A"/>
                </a:solidFill>
                <a:latin typeface="JetBrains Mono" pitchFamily="49" charset="0"/>
                <a:ea typeface="JetBrains Mono" pitchFamily="49" charset="-122"/>
                <a:cs typeface="JetBrains Mono" pitchFamily="49" charset="-120"/>
              </a:rPr>
              <a:t>WHAT THE DEVELOPER SEES</a:t>
            </a:r>
            <a:endParaRPr lang="en-US" sz="1200" dirty="0"/>
          </a:p>
        </p:txBody>
      </p:sp>
      <p:sp>
        <p:nvSpPr>
          <p:cNvPr id="3" name="Text 1"/>
          <p:cNvSpPr/>
          <p:nvPr>
            <p:ph type="title"/>
          </p:nvPr>
        </p:nvSpPr>
        <p:spPr>
          <a:xfrm>
            <a:off x="812800" y="1174750"/>
            <a:ext cx="10883392" cy="52705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2202E"/>
                </a:solidFill>
                <a:latin typeface="IBM Plex Sans" pitchFamily="34" charset="0"/>
                <a:ea typeface="IBM Plex Sans" pitchFamily="34" charset="-122"/>
                <a:cs typeface="IBM Plex Sans" pitchFamily="34" charset="-120"/>
              </a:rPr>
              <a:t>A finding says what, where, and how to fix it</a:t>
            </a:r>
            <a:endParaRPr lang="en-US" sz="3600" dirty="0"/>
          </a:p>
        </p:txBody>
      </p:sp>
      <p:sp>
        <p:nvSpPr>
          <p:cNvPr id="4" name="Shape 2"/>
          <p:cNvSpPr/>
          <p:nvPr/>
        </p:nvSpPr>
        <p:spPr>
          <a:xfrm>
            <a:off x="812800" y="3149600"/>
            <a:ext cx="5384800" cy="2895600"/>
          </a:xfrm>
          <a:prstGeom prst="roundRect">
            <a:avLst>
              <a:gd name="adj" fmla="val 3509"/>
            </a:avLst>
          </a:prstGeom>
          <a:solidFill>
            <a:srgbClr val="12202E"/>
          </a:solidFill>
          <a:ln/>
        </p:spPr>
      </p:sp>
      <p:sp>
        <p:nvSpPr>
          <p:cNvPr id="5" name="Text 3"/>
          <p:cNvSpPr/>
          <p:nvPr/>
        </p:nvSpPr>
        <p:spPr>
          <a:xfrm>
            <a:off x="1117600" y="3454400"/>
            <a:ext cx="4918456" cy="30480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E8833A"/>
                </a:solidFill>
                <a:latin typeface="JetBrains Mono" pitchFamily="49" charset="0"/>
                <a:ea typeface="JetBrains Mono" pitchFamily="49" charset="-122"/>
                <a:cs typeface="JetBrains Mono" pitchFamily="49" charset="-120"/>
              </a:rPr>
              <a:t>SEC-001 · Priority 1</a:t>
            </a:r>
            <a:endParaRPr lang="en-US" sz="1600" dirty="0"/>
          </a:p>
        </p:txBody>
      </p:sp>
      <p:sp>
        <p:nvSpPr>
          <p:cNvPr id="6" name="Text 4"/>
          <p:cNvSpPr/>
          <p:nvPr/>
        </p:nvSpPr>
        <p:spPr>
          <a:xfrm>
            <a:off x="1117600" y="3835400"/>
            <a:ext cx="4918456" cy="23495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9C6D2"/>
                </a:solidFill>
                <a:latin typeface="JetBrains Mono" pitchFamily="49" charset="0"/>
                <a:ea typeface="JetBrains Mono" pitchFamily="49" charset="-122"/>
                <a:cs typeface="JetBrains Mono" pitchFamily="49" charset="-120"/>
              </a:rPr>
              <a:t>Script Include: DemoVendorApi</a:t>
            </a:r>
            <a:endParaRPr lang="en-US" sz="1200" dirty="0"/>
          </a:p>
        </p:txBody>
      </p:sp>
      <p:sp>
        <p:nvSpPr>
          <p:cNvPr id="7" name="Text 5"/>
          <p:cNvSpPr/>
          <p:nvPr/>
        </p:nvSpPr>
        <p:spPr>
          <a:xfrm>
            <a:off x="1117600" y="4146550"/>
            <a:ext cx="4918456" cy="23495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9C6D2"/>
                </a:solidFill>
                <a:latin typeface="JetBrains Mono" pitchFamily="49" charset="0"/>
                <a:ea typeface="JetBrains Mono" pitchFamily="49" charset="-122"/>
                <a:cs typeface="JetBrains Mono" pitchFamily="49" charset="-120"/>
              </a:rPr>
              <a:t>Line 8</a:t>
            </a:r>
            <a:endParaRPr lang="en-US" sz="1200" dirty="0"/>
          </a:p>
        </p:txBody>
      </p:sp>
      <p:sp>
        <p:nvSpPr>
          <p:cNvPr id="8" name="Text 6"/>
          <p:cNvSpPr/>
          <p:nvPr/>
        </p:nvSpPr>
        <p:spPr>
          <a:xfrm>
            <a:off x="1117600" y="4457700"/>
            <a:ext cx="4775200" cy="450850"/>
          </a:xfrm>
          <a:prstGeom prst="roundRect">
            <a:avLst>
              <a:gd name="adj" fmla="val 11268"/>
            </a:avLst>
          </a:prstGeom>
          <a:solidFill>
            <a:srgbClr val="1E3246"/>
          </a:solidFill>
          <a:ln/>
        </p:spPr>
        <p:txBody>
          <a:bodyPr wrap="square" lIns="86721" tIns="86721" rIns="0" bIns="61321" rtlCol="0" anchor="t">
            <a:normAutofit/>
          </a:bodyPr>
          <a:lstStyle/>
          <a:p>
            <a:pPr algn="l" indent="0" marL="0">
              <a:lnSpc>
                <a:spcPts val="1960"/>
              </a:lnSpc>
              <a:buNone/>
            </a:pPr>
            <a:r>
              <a:rPr lang="en-US" sz="1400" dirty="0">
                <a:solidFill>
                  <a:srgbClr val="F4F2EC"/>
                </a:solidFill>
                <a:latin typeface="JetBrains Mono" pitchFamily="49" charset="0"/>
                <a:ea typeface="JetBrains Mono" pitchFamily="49" charset="-122"/>
                <a:cs typeface="JetBrains Mono" pitchFamily="49" charset="-120"/>
              </a:rPr>
              <a:t>var password = "pa******";</a:t>
            </a:r>
            <a:endParaRPr lang="en-US" sz="1400" dirty="0"/>
          </a:p>
        </p:txBody>
      </p:sp>
      <p:sp>
        <p:nvSpPr>
          <p:cNvPr id="9" name="Text 7"/>
          <p:cNvSpPr/>
          <p:nvPr/>
        </p:nvSpPr>
        <p:spPr>
          <a:xfrm>
            <a:off x="1117600" y="5010150"/>
            <a:ext cx="4918456" cy="44450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9C6D2"/>
                </a:solidFill>
                <a:latin typeface="JetBrains Mono" pitchFamily="49" charset="0"/>
                <a:ea typeface="JetBrains Mono" pitchFamily="49" charset="-122"/>
                <a:cs typeface="JetBrains Mono" pitchFamily="49" charset="-120"/>
              </a:rPr>
              <a:t>Recommendation: store it in a credential or encrypted property</a:t>
            </a:r>
            <a:endParaRPr lang="en-US" sz="1200" dirty="0"/>
          </a:p>
        </p:txBody>
      </p:sp>
      <p:sp>
        <p:nvSpPr>
          <p:cNvPr id="10" name="Text 8"/>
          <p:cNvSpPr/>
          <p:nvPr/>
        </p:nvSpPr>
        <p:spPr>
          <a:xfrm>
            <a:off x="1117600" y="5530850"/>
            <a:ext cx="4918456" cy="234950"/>
          </a:xfrm>
          <a:prstGeom prst="rect">
            <a:avLst/>
          </a:prstGeom>
          <a:noFill/>
          <a:ln/>
        </p:spPr>
        <p:txBody>
          <a:bodyPr wrap="square" lIns="0" tIns="0" rIns="0" bIns="0" rtlCol="0" anchor="t">
            <a:normAutofit/>
          </a:bodyPr>
          <a:lstStyle/>
          <a:p>
            <a:pPr algn="l" indent="0" marL="0">
              <a:lnSpc>
                <a:spcPts val="1680"/>
              </a:lnSpc>
              <a:buNone/>
            </a:pPr>
            <a:r>
              <a:rPr lang="en-US" sz="1200" u="sng" dirty="0">
                <a:solidFill>
                  <a:srgbClr val="8CC0F0"/>
                </a:solidFill>
                <a:latin typeface="JetBrains Mono" pitchFamily="49" charset="0"/>
                <a:ea typeface="JetBrains Mono" pitchFamily="49" charset="-122"/>
                <a:cs typeface="JetBrains Mono" pitchFamily="49" charset="-120"/>
              </a:rPr>
              <a:t>Documentation → KB article</a:t>
            </a:r>
            <a:endParaRPr lang="en-US" sz="1200" dirty="0"/>
          </a:p>
        </p:txBody>
      </p:sp>
      <p:pic>
        <p:nvPicPr>
          <p:cNvPr id="11" name="Image 0" descr="Search">    </p:cNvPr>
          <p:cNvPicPr>
            <a:picLocks noChangeAspect="1"/>
          </p:cNvPicPr>
          <p:nvPr/>
        </p:nvPicPr>
        <p:blipFill>
          <a:blip r:embed="rId1"/>
          <a:srcRect l="0" r="0" t="-167" b="-167"/>
          <a:stretch/>
        </p:blipFill>
        <p:spPr>
          <a:xfrm>
            <a:off x="6604000" y="3556000"/>
            <a:ext cx="297458" cy="304800"/>
          </a:xfrm>
          <a:prstGeom prst="rect">
            <a:avLst/>
          </a:prstGeom>
        </p:spPr>
      </p:pic>
      <p:sp>
        <p:nvSpPr>
          <p:cNvPr id="12" name="Text 9"/>
          <p:cNvSpPr/>
          <p:nvPr/>
        </p:nvSpPr>
        <p:spPr>
          <a:xfrm>
            <a:off x="7053858" y="3556000"/>
            <a:ext cx="4455102" cy="58420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2202E"/>
                </a:solidFill>
                <a:latin typeface="IBM Plex Sans" pitchFamily="34" charset="0"/>
                <a:ea typeface="IBM Plex Sans" pitchFamily="34" charset="-122"/>
                <a:cs typeface="IBM Plex Sans" pitchFamily="34" charset="-120"/>
              </a:rPr>
              <a:t>Exact line</a:t>
            </a:r>
            <a:r>
              <a:rPr lang="en-US" sz="1600" dirty="0">
                <a:solidFill>
                  <a:srgbClr val="12202E"/>
                </a:solidFill>
                <a:latin typeface="IBM Plex Sans" pitchFamily="34" charset="0"/>
                <a:ea typeface="IBM Plex Sans" pitchFamily="34" charset="-122"/>
                <a:cs typeface="IBM Plex Sans" pitchFamily="34" charset="-120"/>
              </a:rPr>
              <a:t>, every occurrence listed in one finding</a:t>
            </a:r>
            <a:endParaRPr lang="en-US" sz="1600" dirty="0"/>
          </a:p>
        </p:txBody>
      </p:sp>
      <p:pic>
        <p:nvPicPr>
          <p:cNvPr id="13" name="Image 1" descr="Lock">    </p:cNvPr>
          <p:cNvPicPr>
            <a:picLocks noChangeAspect="1"/>
          </p:cNvPicPr>
          <p:nvPr/>
        </p:nvPicPr>
        <p:blipFill>
          <a:blip r:embed="rId2"/>
          <a:srcRect l="0" r="0" t="-394" b="-394"/>
          <a:stretch/>
        </p:blipFill>
        <p:spPr>
          <a:xfrm>
            <a:off x="6604000" y="4318000"/>
            <a:ext cx="252016" cy="304800"/>
          </a:xfrm>
          <a:prstGeom prst="rect">
            <a:avLst/>
          </a:prstGeom>
        </p:spPr>
      </p:pic>
      <p:sp>
        <p:nvSpPr>
          <p:cNvPr id="14" name="Text 10"/>
          <p:cNvSpPr/>
          <p:nvPr/>
        </p:nvSpPr>
        <p:spPr>
          <a:xfrm>
            <a:off x="7008416" y="4318000"/>
            <a:ext cx="4501908" cy="58420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2202E"/>
                </a:solidFill>
                <a:latin typeface="IBM Plex Sans" pitchFamily="34" charset="0"/>
                <a:ea typeface="IBM Plex Sans" pitchFamily="34" charset="-122"/>
                <a:cs typeface="IBM Plex Sans" pitchFamily="34" charset="-120"/>
              </a:rPr>
              <a:t>Secrets masked</a:t>
            </a:r>
            <a:r>
              <a:rPr lang="en-US" sz="1600" dirty="0">
                <a:solidFill>
                  <a:srgbClr val="12202E"/>
                </a:solidFill>
                <a:latin typeface="IBM Plex Sans" pitchFamily="34" charset="0"/>
                <a:ea typeface="IBM Plex Sans" pitchFamily="34" charset="-122"/>
                <a:cs typeface="IBM Plex Sans" pitchFamily="34" charset="-120"/>
              </a:rPr>
              <a:t>, so the finding doesn’t leak the password</a:t>
            </a:r>
            <a:endParaRPr lang="en-US" sz="1600" dirty="0"/>
          </a:p>
        </p:txBody>
      </p:sp>
      <p:pic>
        <p:nvPicPr>
          <p:cNvPr id="15" name="Image 2" descr="Book">    </p:cNvPr>
          <p:cNvPicPr>
            <a:picLocks noChangeAspect="1"/>
          </p:cNvPicPr>
          <p:nvPr/>
        </p:nvPicPr>
        <p:blipFill>
          <a:blip r:embed="rId3"/>
          <a:srcRect l="0" r="0" t="-575" b="-575"/>
          <a:stretch/>
        </p:blipFill>
        <p:spPr>
          <a:xfrm>
            <a:off x="6604000" y="5080000"/>
            <a:ext cx="276225" cy="304800"/>
          </a:xfrm>
          <a:prstGeom prst="rect">
            <a:avLst/>
          </a:prstGeom>
        </p:spPr>
      </p:pic>
      <p:sp>
        <p:nvSpPr>
          <p:cNvPr id="16" name="Text 11"/>
          <p:cNvSpPr/>
          <p:nvPr/>
        </p:nvSpPr>
        <p:spPr>
          <a:xfrm>
            <a:off x="7032625" y="5080000"/>
            <a:ext cx="4476972" cy="58420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2202E"/>
                </a:solidFill>
                <a:latin typeface="IBM Plex Sans" pitchFamily="34" charset="0"/>
                <a:ea typeface="IBM Plex Sans" pitchFamily="34" charset="-122"/>
                <a:cs typeface="IBM Plex Sans" pitchFamily="34" charset="-120"/>
              </a:rPr>
              <a:t>One click</a:t>
            </a:r>
            <a:r>
              <a:rPr lang="en-US" sz="1600" dirty="0">
                <a:solidFill>
                  <a:srgbClr val="12202E"/>
                </a:solidFill>
                <a:latin typeface="IBM Plex Sans" pitchFamily="34" charset="0"/>
                <a:ea typeface="IBM Plex Sans" pitchFamily="34" charset="-122"/>
                <a:cs typeface="IBM Plex Sans" pitchFamily="34" charset="-120"/>
              </a:rPr>
              <a:t> to the KB article: why it matters and the fix</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2EC"/>
        </a:solidFill>
      </p:bgPr>
    </p:bg>
    <p:spTree>
      <p:nvGrpSpPr>
        <p:cNvPr id="1" name=""/>
        <p:cNvGrpSpPr/>
        <p:nvPr/>
      </p:nvGrpSpPr>
      <p:grpSpPr>
        <a:xfrm>
          <a:off x="0" y="0"/>
          <a:ext cx="0" cy="0"/>
          <a:chOff x="0" y="0"/>
          <a:chExt cx="0" cy="0"/>
        </a:xfrm>
      </p:grpSpPr>
      <p:sp>
        <p:nvSpPr>
          <p:cNvPr id="2" name="Text 0"/>
          <p:cNvSpPr/>
          <p:nvPr/>
        </p:nvSpPr>
        <p:spPr>
          <a:xfrm>
            <a:off x="812800" y="812800"/>
            <a:ext cx="10883392" cy="23495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B4561A"/>
                </a:solidFill>
                <a:latin typeface="JetBrains Mono" pitchFamily="49" charset="0"/>
                <a:ea typeface="JetBrains Mono" pitchFamily="49" charset="-122"/>
                <a:cs typeface="JetBrains Mono" pitchFamily="49" charset="-120"/>
              </a:rPr>
              <a:t>WHAT IT COVERS</a:t>
            </a:r>
            <a:endParaRPr lang="en-US" sz="1200" dirty="0"/>
          </a:p>
        </p:txBody>
      </p:sp>
      <p:sp>
        <p:nvSpPr>
          <p:cNvPr id="3" name="Text 1"/>
          <p:cNvSpPr/>
          <p:nvPr>
            <p:ph type="title"/>
          </p:nvPr>
        </p:nvSpPr>
        <p:spPr>
          <a:xfrm>
            <a:off x="812800" y="1174750"/>
            <a:ext cx="10883392" cy="52705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2202E"/>
                </a:solidFill>
                <a:latin typeface="IBM Plex Sans" pitchFamily="34" charset="0"/>
                <a:ea typeface="IBM Plex Sans" pitchFamily="34" charset="-122"/>
                <a:cs typeface="IBM Plex Sans" pitchFamily="34" charset="-120"/>
              </a:rPr>
              <a:t>40 rules across eight areas</a:t>
            </a:r>
            <a:endParaRPr lang="en-US" sz="3600" dirty="0"/>
          </a:p>
        </p:txBody>
      </p:sp>
      <p:sp>
        <p:nvSpPr>
          <p:cNvPr id="4" name="Shape 2"/>
          <p:cNvSpPr/>
          <p:nvPr/>
        </p:nvSpPr>
        <p:spPr>
          <a:xfrm>
            <a:off x="819150" y="2597150"/>
            <a:ext cx="2514600" cy="1638300"/>
          </a:xfrm>
          <a:prstGeom prst="roundRect">
            <a:avLst>
              <a:gd name="adj" fmla="val 5814"/>
            </a:avLst>
          </a:prstGeom>
          <a:solidFill>
            <a:srgbClr val="FFFDF8"/>
          </a:solidFill>
          <a:ln w="12700">
            <a:solidFill>
              <a:srgbClr val="D5D2C8"/>
            </a:solidFill>
            <a:prstDash val="solid"/>
          </a:ln>
        </p:spPr>
      </p:sp>
      <p:sp>
        <p:nvSpPr>
          <p:cNvPr id="5" name="Text 3"/>
          <p:cNvSpPr/>
          <p:nvPr/>
        </p:nvSpPr>
        <p:spPr>
          <a:xfrm>
            <a:off x="1028700" y="2806700"/>
            <a:ext cx="2158365" cy="482600"/>
          </a:xfrm>
          <a:prstGeom prst="rect">
            <a:avLst/>
          </a:prstGeom>
          <a:noFill/>
          <a:ln/>
        </p:spPr>
        <p:txBody>
          <a:bodyPr wrap="square" lIns="0" tIns="0" rIns="0" bIns="0" rtlCol="0" anchor="t">
            <a:normAutofit/>
          </a:bodyPr>
          <a:lstStyle/>
          <a:p>
            <a:pPr algn="l" indent="0" marL="0">
              <a:lnSpc>
                <a:spcPts val="3600"/>
              </a:lnSpc>
              <a:buNone/>
            </a:pPr>
            <a:r>
              <a:rPr lang="en-US" sz="3600" b="1" dirty="0">
                <a:solidFill>
                  <a:srgbClr val="2F6FB0"/>
                </a:solidFill>
                <a:latin typeface="IBM Plex Sans" pitchFamily="34" charset="0"/>
                <a:ea typeface="IBM Plex Sans" pitchFamily="34" charset="-122"/>
                <a:cs typeface="IBM Plex Sans" pitchFamily="34" charset="-120"/>
              </a:rPr>
              <a:t>9</a:t>
            </a:r>
            <a:endParaRPr lang="en-US" sz="3600" dirty="0"/>
          </a:p>
        </p:txBody>
      </p:sp>
      <p:sp>
        <p:nvSpPr>
          <p:cNvPr id="6" name="Text 4"/>
          <p:cNvSpPr/>
          <p:nvPr/>
        </p:nvSpPr>
        <p:spPr>
          <a:xfrm>
            <a:off x="1028700" y="3314700"/>
            <a:ext cx="2158365" cy="26670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2202E"/>
                </a:solidFill>
                <a:latin typeface="IBM Plex Sans" pitchFamily="34" charset="0"/>
                <a:ea typeface="IBM Plex Sans" pitchFamily="34" charset="-122"/>
                <a:cs typeface="IBM Plex Sans" pitchFamily="34" charset="-120"/>
              </a:rPr>
              <a:t>GlideRecord</a:t>
            </a:r>
            <a:endParaRPr lang="en-US" sz="1600" dirty="0"/>
          </a:p>
        </p:txBody>
      </p:sp>
      <p:sp>
        <p:nvSpPr>
          <p:cNvPr id="7" name="Text 5"/>
          <p:cNvSpPr/>
          <p:nvPr/>
        </p:nvSpPr>
        <p:spPr>
          <a:xfrm>
            <a:off x="1028700" y="3606800"/>
            <a:ext cx="2158365" cy="44450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525E"/>
                </a:solidFill>
                <a:latin typeface="IBM Plex Sans" pitchFamily="34" charset="0"/>
                <a:ea typeface="IBM Plex Sans" pitchFamily="34" charset="-122"/>
                <a:cs typeface="IBM Plex Sans" pitchFamily="34" charset="-120"/>
              </a:rPr>
              <a:t>Unfiltered deletes and updates, nested queries</a:t>
            </a:r>
            <a:endParaRPr lang="en-US" sz="1200" dirty="0"/>
          </a:p>
        </p:txBody>
      </p:sp>
      <p:sp>
        <p:nvSpPr>
          <p:cNvPr id="8" name="Shape 6"/>
          <p:cNvSpPr/>
          <p:nvPr/>
        </p:nvSpPr>
        <p:spPr>
          <a:xfrm>
            <a:off x="3498850" y="2597150"/>
            <a:ext cx="2514600" cy="1638300"/>
          </a:xfrm>
          <a:prstGeom prst="roundRect">
            <a:avLst>
              <a:gd name="adj" fmla="val 5814"/>
            </a:avLst>
          </a:prstGeom>
          <a:solidFill>
            <a:srgbClr val="FFFDF8"/>
          </a:solidFill>
          <a:ln w="12700">
            <a:solidFill>
              <a:srgbClr val="D5D2C8"/>
            </a:solidFill>
            <a:prstDash val="solid"/>
          </a:ln>
        </p:spPr>
      </p:sp>
      <p:sp>
        <p:nvSpPr>
          <p:cNvPr id="9" name="Text 7"/>
          <p:cNvSpPr/>
          <p:nvPr/>
        </p:nvSpPr>
        <p:spPr>
          <a:xfrm>
            <a:off x="3708400" y="2806700"/>
            <a:ext cx="2158365" cy="482600"/>
          </a:xfrm>
          <a:prstGeom prst="rect">
            <a:avLst/>
          </a:prstGeom>
          <a:noFill/>
          <a:ln/>
        </p:spPr>
        <p:txBody>
          <a:bodyPr wrap="square" lIns="0" tIns="0" rIns="0" bIns="0" rtlCol="0" anchor="t">
            <a:normAutofit/>
          </a:bodyPr>
          <a:lstStyle/>
          <a:p>
            <a:pPr algn="l" indent="0" marL="0">
              <a:lnSpc>
                <a:spcPts val="3600"/>
              </a:lnSpc>
              <a:buNone/>
            </a:pPr>
            <a:r>
              <a:rPr lang="en-US" sz="3600" b="1" dirty="0">
                <a:solidFill>
                  <a:srgbClr val="2F6FB0"/>
                </a:solidFill>
                <a:latin typeface="IBM Plex Sans" pitchFamily="34" charset="0"/>
                <a:ea typeface="IBM Plex Sans" pitchFamily="34" charset="-122"/>
                <a:cs typeface="IBM Plex Sans" pitchFamily="34" charset="-120"/>
              </a:rPr>
              <a:t>5</a:t>
            </a:r>
            <a:endParaRPr lang="en-US" sz="3600" dirty="0"/>
          </a:p>
        </p:txBody>
      </p:sp>
      <p:sp>
        <p:nvSpPr>
          <p:cNvPr id="10" name="Text 8"/>
          <p:cNvSpPr/>
          <p:nvPr/>
        </p:nvSpPr>
        <p:spPr>
          <a:xfrm>
            <a:off x="3708400" y="3314700"/>
            <a:ext cx="2158365" cy="26670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2202E"/>
                </a:solidFill>
                <a:latin typeface="IBM Plex Sans" pitchFamily="34" charset="0"/>
                <a:ea typeface="IBM Plex Sans" pitchFamily="34" charset="-122"/>
                <a:cs typeface="IBM Plex Sans" pitchFamily="34" charset="-120"/>
              </a:rPr>
              <a:t>Security</a:t>
            </a:r>
            <a:endParaRPr lang="en-US" sz="1600" dirty="0"/>
          </a:p>
        </p:txBody>
      </p:sp>
      <p:sp>
        <p:nvSpPr>
          <p:cNvPr id="11" name="Text 9"/>
          <p:cNvSpPr/>
          <p:nvPr/>
        </p:nvSpPr>
        <p:spPr>
          <a:xfrm>
            <a:off x="3708400" y="3606800"/>
            <a:ext cx="2158365" cy="44450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525E"/>
                </a:solidFill>
                <a:latin typeface="IBM Plex Sans" pitchFamily="34" charset="0"/>
                <a:ea typeface="IBM Plex Sans" pitchFamily="34" charset="-122"/>
                <a:cs typeface="IBM Plex Sans" pitchFamily="34" charset="-120"/>
              </a:rPr>
              <a:t>Hardcoded secrets, eval, open REST APIs</a:t>
            </a:r>
            <a:endParaRPr lang="en-US" sz="1200" dirty="0"/>
          </a:p>
        </p:txBody>
      </p:sp>
      <p:sp>
        <p:nvSpPr>
          <p:cNvPr id="12" name="Shape 10"/>
          <p:cNvSpPr/>
          <p:nvPr/>
        </p:nvSpPr>
        <p:spPr>
          <a:xfrm>
            <a:off x="6178550" y="2597150"/>
            <a:ext cx="2514600" cy="1638300"/>
          </a:xfrm>
          <a:prstGeom prst="roundRect">
            <a:avLst>
              <a:gd name="adj" fmla="val 5814"/>
            </a:avLst>
          </a:prstGeom>
          <a:solidFill>
            <a:srgbClr val="FFFDF8"/>
          </a:solidFill>
          <a:ln w="12700">
            <a:solidFill>
              <a:srgbClr val="D5D2C8"/>
            </a:solidFill>
            <a:prstDash val="solid"/>
          </a:ln>
        </p:spPr>
      </p:sp>
      <p:sp>
        <p:nvSpPr>
          <p:cNvPr id="13" name="Text 11"/>
          <p:cNvSpPr/>
          <p:nvPr/>
        </p:nvSpPr>
        <p:spPr>
          <a:xfrm>
            <a:off x="6388100" y="2806700"/>
            <a:ext cx="2158365" cy="482600"/>
          </a:xfrm>
          <a:prstGeom prst="rect">
            <a:avLst/>
          </a:prstGeom>
          <a:noFill/>
          <a:ln/>
        </p:spPr>
        <p:txBody>
          <a:bodyPr wrap="square" lIns="0" tIns="0" rIns="0" bIns="0" rtlCol="0" anchor="t">
            <a:normAutofit/>
          </a:bodyPr>
          <a:lstStyle/>
          <a:p>
            <a:pPr algn="l" indent="0" marL="0">
              <a:lnSpc>
                <a:spcPts val="3600"/>
              </a:lnSpc>
              <a:buNone/>
            </a:pPr>
            <a:r>
              <a:rPr lang="en-US" sz="3600" b="1" dirty="0">
                <a:solidFill>
                  <a:srgbClr val="2F6FB0"/>
                </a:solidFill>
                <a:latin typeface="IBM Plex Sans" pitchFamily="34" charset="0"/>
                <a:ea typeface="IBM Plex Sans" pitchFamily="34" charset="-122"/>
                <a:cs typeface="IBM Plex Sans" pitchFamily="34" charset="-120"/>
              </a:rPr>
              <a:t>4</a:t>
            </a:r>
            <a:endParaRPr lang="en-US" sz="3600" dirty="0"/>
          </a:p>
        </p:txBody>
      </p:sp>
      <p:sp>
        <p:nvSpPr>
          <p:cNvPr id="14" name="Text 12"/>
          <p:cNvSpPr/>
          <p:nvPr/>
        </p:nvSpPr>
        <p:spPr>
          <a:xfrm>
            <a:off x="6388100" y="3314700"/>
            <a:ext cx="2158365" cy="26670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2202E"/>
                </a:solidFill>
                <a:latin typeface="IBM Plex Sans" pitchFamily="34" charset="0"/>
                <a:ea typeface="IBM Plex Sans" pitchFamily="34" charset="-122"/>
                <a:cs typeface="IBM Plex Sans" pitchFamily="34" charset="-120"/>
              </a:rPr>
              <a:t>Business Rules</a:t>
            </a:r>
            <a:endParaRPr lang="en-US" sz="1600" dirty="0"/>
          </a:p>
        </p:txBody>
      </p:sp>
      <p:sp>
        <p:nvSpPr>
          <p:cNvPr id="15" name="Text 13"/>
          <p:cNvSpPr/>
          <p:nvPr/>
        </p:nvSpPr>
        <p:spPr>
          <a:xfrm>
            <a:off x="6388100" y="3606800"/>
            <a:ext cx="2158365" cy="44450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525E"/>
                </a:solidFill>
                <a:latin typeface="IBM Plex Sans" pitchFamily="34" charset="0"/>
                <a:ea typeface="IBM Plex Sans" pitchFamily="34" charset="-122"/>
                <a:cs typeface="IBM Plex Sans" pitchFamily="34" charset="-120"/>
              </a:rPr>
              <a:t>current.update(), recursion, Global table</a:t>
            </a:r>
            <a:endParaRPr lang="en-US" sz="1200" dirty="0"/>
          </a:p>
        </p:txBody>
      </p:sp>
      <p:sp>
        <p:nvSpPr>
          <p:cNvPr id="16" name="Shape 14"/>
          <p:cNvSpPr/>
          <p:nvPr/>
        </p:nvSpPr>
        <p:spPr>
          <a:xfrm>
            <a:off x="8858250" y="2597150"/>
            <a:ext cx="2514600" cy="1638300"/>
          </a:xfrm>
          <a:prstGeom prst="roundRect">
            <a:avLst>
              <a:gd name="adj" fmla="val 5814"/>
            </a:avLst>
          </a:prstGeom>
          <a:solidFill>
            <a:srgbClr val="FFFDF8"/>
          </a:solidFill>
          <a:ln w="12700">
            <a:solidFill>
              <a:srgbClr val="D5D2C8"/>
            </a:solidFill>
            <a:prstDash val="solid"/>
          </a:ln>
        </p:spPr>
      </p:sp>
      <p:sp>
        <p:nvSpPr>
          <p:cNvPr id="17" name="Text 15"/>
          <p:cNvSpPr/>
          <p:nvPr/>
        </p:nvSpPr>
        <p:spPr>
          <a:xfrm>
            <a:off x="9067800" y="2806700"/>
            <a:ext cx="2158365" cy="482600"/>
          </a:xfrm>
          <a:prstGeom prst="rect">
            <a:avLst/>
          </a:prstGeom>
          <a:noFill/>
          <a:ln/>
        </p:spPr>
        <p:txBody>
          <a:bodyPr wrap="square" lIns="0" tIns="0" rIns="0" bIns="0" rtlCol="0" anchor="t">
            <a:normAutofit/>
          </a:bodyPr>
          <a:lstStyle/>
          <a:p>
            <a:pPr algn="l" indent="0" marL="0">
              <a:lnSpc>
                <a:spcPts val="3600"/>
              </a:lnSpc>
              <a:buNone/>
            </a:pPr>
            <a:r>
              <a:rPr lang="en-US" sz="3600" b="1" dirty="0">
                <a:solidFill>
                  <a:srgbClr val="2F6FB0"/>
                </a:solidFill>
                <a:latin typeface="IBM Plex Sans" pitchFamily="34" charset="0"/>
                <a:ea typeface="IBM Plex Sans" pitchFamily="34" charset="-122"/>
                <a:cs typeface="IBM Plex Sans" pitchFamily="34" charset="-120"/>
              </a:rPr>
              <a:t>4</a:t>
            </a:r>
            <a:endParaRPr lang="en-US" sz="3600" dirty="0"/>
          </a:p>
        </p:txBody>
      </p:sp>
      <p:sp>
        <p:nvSpPr>
          <p:cNvPr id="18" name="Text 16"/>
          <p:cNvSpPr/>
          <p:nvPr/>
        </p:nvSpPr>
        <p:spPr>
          <a:xfrm>
            <a:off x="9067800" y="3314700"/>
            <a:ext cx="2158365" cy="26670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2202E"/>
                </a:solidFill>
                <a:latin typeface="IBM Plex Sans" pitchFamily="34" charset="0"/>
                <a:ea typeface="IBM Plex Sans" pitchFamily="34" charset="-122"/>
                <a:cs typeface="IBM Plex Sans" pitchFamily="34" charset="-120"/>
              </a:rPr>
              <a:t>Client scripts</a:t>
            </a:r>
            <a:endParaRPr lang="en-US" sz="1600" dirty="0"/>
          </a:p>
        </p:txBody>
      </p:sp>
      <p:sp>
        <p:nvSpPr>
          <p:cNvPr id="19" name="Text 17"/>
          <p:cNvSpPr/>
          <p:nvPr/>
        </p:nvSpPr>
        <p:spPr>
          <a:xfrm>
            <a:off x="9067800" y="3606800"/>
            <a:ext cx="2158365" cy="44450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525E"/>
                </a:solidFill>
                <a:latin typeface="IBM Plex Sans" pitchFamily="34" charset="0"/>
                <a:ea typeface="IBM Plex Sans" pitchFamily="34" charset="-122"/>
                <a:cs typeface="IBM Plex Sans" pitchFamily="34" charset="-120"/>
              </a:rPr>
              <a:t>Synchronous calls, DOM access</a:t>
            </a:r>
            <a:endParaRPr lang="en-US" sz="1200" dirty="0"/>
          </a:p>
        </p:txBody>
      </p:sp>
      <p:sp>
        <p:nvSpPr>
          <p:cNvPr id="20" name="Shape 18"/>
          <p:cNvSpPr/>
          <p:nvPr/>
        </p:nvSpPr>
        <p:spPr>
          <a:xfrm>
            <a:off x="819150" y="4400550"/>
            <a:ext cx="2514600" cy="1638300"/>
          </a:xfrm>
          <a:prstGeom prst="roundRect">
            <a:avLst>
              <a:gd name="adj" fmla="val 5814"/>
            </a:avLst>
          </a:prstGeom>
          <a:solidFill>
            <a:srgbClr val="FFFDF8"/>
          </a:solidFill>
          <a:ln w="12700">
            <a:solidFill>
              <a:srgbClr val="D5D2C8"/>
            </a:solidFill>
            <a:prstDash val="solid"/>
          </a:ln>
        </p:spPr>
      </p:sp>
      <p:sp>
        <p:nvSpPr>
          <p:cNvPr id="21" name="Text 19"/>
          <p:cNvSpPr/>
          <p:nvPr/>
        </p:nvSpPr>
        <p:spPr>
          <a:xfrm>
            <a:off x="1028700" y="4610100"/>
            <a:ext cx="2158365" cy="482600"/>
          </a:xfrm>
          <a:prstGeom prst="rect">
            <a:avLst/>
          </a:prstGeom>
          <a:noFill/>
          <a:ln/>
        </p:spPr>
        <p:txBody>
          <a:bodyPr wrap="square" lIns="0" tIns="0" rIns="0" bIns="0" rtlCol="0" anchor="t">
            <a:normAutofit/>
          </a:bodyPr>
          <a:lstStyle/>
          <a:p>
            <a:pPr algn="l" indent="0" marL="0">
              <a:lnSpc>
                <a:spcPts val="3600"/>
              </a:lnSpc>
              <a:buNone/>
            </a:pPr>
            <a:r>
              <a:rPr lang="en-US" sz="3600" b="1" dirty="0">
                <a:solidFill>
                  <a:srgbClr val="2F6FB0"/>
                </a:solidFill>
                <a:latin typeface="IBM Plex Sans" pitchFamily="34" charset="0"/>
                <a:ea typeface="IBM Plex Sans" pitchFamily="34" charset="-122"/>
                <a:cs typeface="IBM Plex Sans" pitchFamily="34" charset="-120"/>
              </a:rPr>
              <a:t>5</a:t>
            </a:r>
            <a:endParaRPr lang="en-US" sz="3600" dirty="0"/>
          </a:p>
        </p:txBody>
      </p:sp>
      <p:sp>
        <p:nvSpPr>
          <p:cNvPr id="22" name="Text 20"/>
          <p:cNvSpPr/>
          <p:nvPr/>
        </p:nvSpPr>
        <p:spPr>
          <a:xfrm>
            <a:off x="1028700" y="5118100"/>
            <a:ext cx="2158365" cy="26670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2202E"/>
                </a:solidFill>
                <a:latin typeface="IBM Plex Sans" pitchFamily="34" charset="0"/>
                <a:ea typeface="IBM Plex Sans" pitchFamily="34" charset="-122"/>
                <a:cs typeface="IBM Plex Sans" pitchFamily="34" charset="-120"/>
              </a:rPr>
              <a:t>Portability</a:t>
            </a:r>
            <a:endParaRPr lang="en-US" sz="1600" dirty="0"/>
          </a:p>
        </p:txBody>
      </p:sp>
      <p:sp>
        <p:nvSpPr>
          <p:cNvPr id="23" name="Text 21"/>
          <p:cNvSpPr/>
          <p:nvPr/>
        </p:nvSpPr>
        <p:spPr>
          <a:xfrm>
            <a:off x="1028700" y="5410200"/>
            <a:ext cx="2158365" cy="44450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525E"/>
                </a:solidFill>
                <a:latin typeface="IBM Plex Sans" pitchFamily="34" charset="0"/>
                <a:ea typeface="IBM Plex Sans" pitchFamily="34" charset="-122"/>
                <a:cs typeface="IBM Plex Sans" pitchFamily="34" charset="-120"/>
              </a:rPr>
              <a:t>Hardcoded hosts, sys_ids, emails, users</a:t>
            </a:r>
            <a:endParaRPr lang="en-US" sz="1200" dirty="0"/>
          </a:p>
        </p:txBody>
      </p:sp>
      <p:sp>
        <p:nvSpPr>
          <p:cNvPr id="24" name="Shape 22"/>
          <p:cNvSpPr/>
          <p:nvPr/>
        </p:nvSpPr>
        <p:spPr>
          <a:xfrm>
            <a:off x="3498850" y="4400550"/>
            <a:ext cx="2514600" cy="1638300"/>
          </a:xfrm>
          <a:prstGeom prst="roundRect">
            <a:avLst>
              <a:gd name="adj" fmla="val 5814"/>
            </a:avLst>
          </a:prstGeom>
          <a:solidFill>
            <a:srgbClr val="FFFDF8"/>
          </a:solidFill>
          <a:ln w="12700">
            <a:solidFill>
              <a:srgbClr val="D5D2C8"/>
            </a:solidFill>
            <a:prstDash val="solid"/>
          </a:ln>
        </p:spPr>
      </p:sp>
      <p:sp>
        <p:nvSpPr>
          <p:cNvPr id="25" name="Text 23"/>
          <p:cNvSpPr/>
          <p:nvPr/>
        </p:nvSpPr>
        <p:spPr>
          <a:xfrm>
            <a:off x="3708400" y="4610100"/>
            <a:ext cx="2158365" cy="482600"/>
          </a:xfrm>
          <a:prstGeom prst="rect">
            <a:avLst/>
          </a:prstGeom>
          <a:noFill/>
          <a:ln/>
        </p:spPr>
        <p:txBody>
          <a:bodyPr wrap="square" lIns="0" tIns="0" rIns="0" bIns="0" rtlCol="0" anchor="t">
            <a:normAutofit/>
          </a:bodyPr>
          <a:lstStyle/>
          <a:p>
            <a:pPr algn="l" indent="0" marL="0">
              <a:lnSpc>
                <a:spcPts val="3600"/>
              </a:lnSpc>
              <a:buNone/>
            </a:pPr>
            <a:r>
              <a:rPr lang="en-US" sz="3600" b="1" dirty="0">
                <a:solidFill>
                  <a:srgbClr val="2F6FB0"/>
                </a:solidFill>
                <a:latin typeface="IBM Plex Sans" pitchFamily="34" charset="0"/>
                <a:ea typeface="IBM Plex Sans" pitchFamily="34" charset="-122"/>
                <a:cs typeface="IBM Plex Sans" pitchFamily="34" charset="-120"/>
              </a:rPr>
              <a:t>4</a:t>
            </a:r>
            <a:endParaRPr lang="en-US" sz="3600" dirty="0"/>
          </a:p>
        </p:txBody>
      </p:sp>
      <p:sp>
        <p:nvSpPr>
          <p:cNvPr id="26" name="Text 24"/>
          <p:cNvSpPr/>
          <p:nvPr/>
        </p:nvSpPr>
        <p:spPr>
          <a:xfrm>
            <a:off x="3708400" y="5118100"/>
            <a:ext cx="2158365" cy="26670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2202E"/>
                </a:solidFill>
                <a:latin typeface="IBM Plex Sans" pitchFamily="34" charset="0"/>
                <a:ea typeface="IBM Plex Sans" pitchFamily="34" charset="-122"/>
                <a:cs typeface="IBM Plex Sans" pitchFamily="34" charset="-120"/>
              </a:rPr>
              <a:t>Update sets</a:t>
            </a:r>
            <a:endParaRPr lang="en-US" sz="1600" dirty="0"/>
          </a:p>
        </p:txBody>
      </p:sp>
      <p:sp>
        <p:nvSpPr>
          <p:cNvPr id="27" name="Text 25"/>
          <p:cNvSpPr/>
          <p:nvPr/>
        </p:nvSpPr>
        <p:spPr>
          <a:xfrm>
            <a:off x="3708400" y="5410200"/>
            <a:ext cx="2158365" cy="44450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525E"/>
                </a:solidFill>
                <a:latin typeface="IBM Plex Sans" pitchFamily="34" charset="0"/>
                <a:ea typeface="IBM Plex Sans" pitchFamily="34" charset="-122"/>
                <a:cs typeface="IBM Plex Sans" pitchFamily="34" charset="-120"/>
              </a:rPr>
              <a:t>Collisions, OOB and protected changes</a:t>
            </a:r>
            <a:endParaRPr lang="en-US" sz="1200" dirty="0"/>
          </a:p>
        </p:txBody>
      </p:sp>
      <p:sp>
        <p:nvSpPr>
          <p:cNvPr id="28" name="Shape 26"/>
          <p:cNvSpPr/>
          <p:nvPr/>
        </p:nvSpPr>
        <p:spPr>
          <a:xfrm>
            <a:off x="6178550" y="4400550"/>
            <a:ext cx="2514600" cy="1638300"/>
          </a:xfrm>
          <a:prstGeom prst="roundRect">
            <a:avLst>
              <a:gd name="adj" fmla="val 5814"/>
            </a:avLst>
          </a:prstGeom>
          <a:solidFill>
            <a:srgbClr val="FFFDF8"/>
          </a:solidFill>
          <a:ln w="12700">
            <a:solidFill>
              <a:srgbClr val="D5D2C8"/>
            </a:solidFill>
            <a:prstDash val="solid"/>
          </a:ln>
        </p:spPr>
      </p:sp>
      <p:sp>
        <p:nvSpPr>
          <p:cNvPr id="29" name="Text 27"/>
          <p:cNvSpPr/>
          <p:nvPr/>
        </p:nvSpPr>
        <p:spPr>
          <a:xfrm>
            <a:off x="6388100" y="4610100"/>
            <a:ext cx="2158365" cy="482600"/>
          </a:xfrm>
          <a:prstGeom prst="rect">
            <a:avLst/>
          </a:prstGeom>
          <a:noFill/>
          <a:ln/>
        </p:spPr>
        <p:txBody>
          <a:bodyPr wrap="square" lIns="0" tIns="0" rIns="0" bIns="0" rtlCol="0" anchor="t">
            <a:normAutofit/>
          </a:bodyPr>
          <a:lstStyle/>
          <a:p>
            <a:pPr algn="l" indent="0" marL="0">
              <a:lnSpc>
                <a:spcPts val="3600"/>
              </a:lnSpc>
              <a:buNone/>
            </a:pPr>
            <a:r>
              <a:rPr lang="en-US" sz="3600" b="1" dirty="0">
                <a:solidFill>
                  <a:srgbClr val="2F6FB0"/>
                </a:solidFill>
                <a:latin typeface="IBM Plex Sans" pitchFamily="34" charset="0"/>
                <a:ea typeface="IBM Plex Sans" pitchFamily="34" charset="-122"/>
                <a:cs typeface="IBM Plex Sans" pitchFamily="34" charset="-120"/>
              </a:rPr>
              <a:t>3</a:t>
            </a:r>
            <a:endParaRPr lang="en-US" sz="3600" dirty="0"/>
          </a:p>
        </p:txBody>
      </p:sp>
      <p:sp>
        <p:nvSpPr>
          <p:cNvPr id="30" name="Text 28"/>
          <p:cNvSpPr/>
          <p:nvPr/>
        </p:nvSpPr>
        <p:spPr>
          <a:xfrm>
            <a:off x="6388100" y="5118100"/>
            <a:ext cx="2158365" cy="26670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2202E"/>
                </a:solidFill>
                <a:latin typeface="IBM Plex Sans" pitchFamily="34" charset="0"/>
                <a:ea typeface="IBM Plex Sans" pitchFamily="34" charset="-122"/>
                <a:cs typeface="IBM Plex Sans" pitchFamily="34" charset="-120"/>
              </a:rPr>
              <a:t>Script Includes</a:t>
            </a:r>
            <a:endParaRPr lang="en-US" sz="1600" dirty="0"/>
          </a:p>
        </p:txBody>
      </p:sp>
      <p:sp>
        <p:nvSpPr>
          <p:cNvPr id="31" name="Text 29"/>
          <p:cNvSpPr/>
          <p:nvPr/>
        </p:nvSpPr>
        <p:spPr>
          <a:xfrm>
            <a:off x="6388100" y="5410200"/>
            <a:ext cx="2158365" cy="44450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525E"/>
                </a:solidFill>
                <a:latin typeface="IBM Plex Sans" pitchFamily="34" charset="0"/>
                <a:ea typeface="IBM Plex Sans" pitchFamily="34" charset="-122"/>
                <a:cs typeface="IBM Plex Sans" pitchFamily="34" charset="-120"/>
              </a:rPr>
              <a:t>Naming, duplicates, descriptions</a:t>
            </a:r>
            <a:endParaRPr lang="en-US" sz="1200" dirty="0"/>
          </a:p>
        </p:txBody>
      </p:sp>
      <p:sp>
        <p:nvSpPr>
          <p:cNvPr id="32" name="Shape 30"/>
          <p:cNvSpPr/>
          <p:nvPr/>
        </p:nvSpPr>
        <p:spPr>
          <a:xfrm>
            <a:off x="8858250" y="4400550"/>
            <a:ext cx="2514600" cy="1638300"/>
          </a:xfrm>
          <a:prstGeom prst="roundRect">
            <a:avLst>
              <a:gd name="adj" fmla="val 5814"/>
            </a:avLst>
          </a:prstGeom>
          <a:solidFill>
            <a:srgbClr val="FFFDF8"/>
          </a:solidFill>
          <a:ln w="12700">
            <a:solidFill>
              <a:srgbClr val="D5D2C8"/>
            </a:solidFill>
            <a:prstDash val="solid"/>
          </a:ln>
        </p:spPr>
      </p:sp>
      <p:sp>
        <p:nvSpPr>
          <p:cNvPr id="33" name="Text 31"/>
          <p:cNvSpPr/>
          <p:nvPr/>
        </p:nvSpPr>
        <p:spPr>
          <a:xfrm>
            <a:off x="9067800" y="4610100"/>
            <a:ext cx="2158365" cy="482600"/>
          </a:xfrm>
          <a:prstGeom prst="rect">
            <a:avLst/>
          </a:prstGeom>
          <a:noFill/>
          <a:ln/>
        </p:spPr>
        <p:txBody>
          <a:bodyPr wrap="square" lIns="0" tIns="0" rIns="0" bIns="0" rtlCol="0" anchor="t">
            <a:normAutofit/>
          </a:bodyPr>
          <a:lstStyle/>
          <a:p>
            <a:pPr algn="l" indent="0" marL="0">
              <a:lnSpc>
                <a:spcPts val="3600"/>
              </a:lnSpc>
              <a:buNone/>
            </a:pPr>
            <a:r>
              <a:rPr lang="en-US" sz="3600" b="1" dirty="0">
                <a:solidFill>
                  <a:srgbClr val="2F6FB0"/>
                </a:solidFill>
                <a:latin typeface="IBM Plex Sans" pitchFamily="34" charset="0"/>
                <a:ea typeface="IBM Plex Sans" pitchFamily="34" charset="-122"/>
                <a:cs typeface="IBM Plex Sans" pitchFamily="34" charset="-120"/>
              </a:rPr>
              <a:t>6</a:t>
            </a:r>
            <a:endParaRPr lang="en-US" sz="3600" dirty="0"/>
          </a:p>
        </p:txBody>
      </p:sp>
      <p:sp>
        <p:nvSpPr>
          <p:cNvPr id="34" name="Text 32"/>
          <p:cNvSpPr/>
          <p:nvPr/>
        </p:nvSpPr>
        <p:spPr>
          <a:xfrm>
            <a:off x="9067800" y="5118100"/>
            <a:ext cx="2158365" cy="26670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2202E"/>
                </a:solidFill>
                <a:latin typeface="IBM Plex Sans" pitchFamily="34" charset="0"/>
                <a:ea typeface="IBM Plex Sans" pitchFamily="34" charset="-122"/>
                <a:cs typeface="IBM Plex Sans" pitchFamily="34" charset="-120"/>
              </a:rPr>
              <a:t>Code quality</a:t>
            </a:r>
            <a:endParaRPr lang="en-US" sz="1600" dirty="0"/>
          </a:p>
        </p:txBody>
      </p:sp>
      <p:sp>
        <p:nvSpPr>
          <p:cNvPr id="35" name="Text 33"/>
          <p:cNvSpPr/>
          <p:nvPr/>
        </p:nvSpPr>
        <p:spPr>
          <a:xfrm>
            <a:off x="9067800" y="5410200"/>
            <a:ext cx="2158365" cy="44450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525E"/>
                </a:solidFill>
                <a:latin typeface="IBM Plex Sans" pitchFamily="34" charset="0"/>
                <a:ea typeface="IBM Plex Sans" pitchFamily="34" charset="-122"/>
                <a:cs typeface="IBM Plex Sans" pitchFamily="34" charset="-120"/>
              </a:rPr>
              <a:t>Debug logging, empty catches, complexity</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2202E"/>
        </a:solidFill>
      </p:bgPr>
    </p:bg>
    <p:spTree>
      <p:nvGrpSpPr>
        <p:cNvPr id="1" name=""/>
        <p:cNvGrpSpPr/>
        <p:nvPr/>
      </p:nvGrpSpPr>
      <p:grpSpPr>
        <a:xfrm>
          <a:off x="0" y="0"/>
          <a:ext cx="0" cy="0"/>
          <a:chOff x="0" y="0"/>
          <a:chExt cx="0" cy="0"/>
        </a:xfrm>
      </p:grpSpPr>
      <p:sp>
        <p:nvSpPr>
          <p:cNvPr id="2" name="Text 0"/>
          <p:cNvSpPr/>
          <p:nvPr/>
        </p:nvSpPr>
        <p:spPr>
          <a:xfrm>
            <a:off x="812800" y="812800"/>
            <a:ext cx="10883392" cy="23495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E8833A"/>
                </a:solidFill>
                <a:latin typeface="JetBrains Mono" pitchFamily="49" charset="0"/>
                <a:ea typeface="JetBrains Mono" pitchFamily="49" charset="-122"/>
                <a:cs typeface="JetBrains Mono" pitchFamily="49" charset="-120"/>
              </a:rPr>
              <a:t>NEW: PROTECTED COMPONENTS</a:t>
            </a:r>
            <a:endParaRPr lang="en-US" sz="1200" dirty="0"/>
          </a:p>
        </p:txBody>
      </p:sp>
      <p:sp>
        <p:nvSpPr>
          <p:cNvPr id="3" name="Text 1"/>
          <p:cNvSpPr/>
          <p:nvPr>
            <p:ph type="title"/>
          </p:nvPr>
        </p:nvSpPr>
        <p:spPr>
          <a:xfrm>
            <a:off x="812800" y="1174750"/>
            <a:ext cx="9810750" cy="102870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F4F2EC"/>
                </a:solidFill>
                <a:latin typeface="IBM Plex Sans" pitchFamily="34" charset="0"/>
                <a:ea typeface="IBM Plex Sans" pitchFamily="34" charset="-122"/>
                <a:cs typeface="IBM Plex Sans" pitchFamily="34" charset="-120"/>
              </a:rPr>
              <a:t>Critical components have owners, and the gate knows who they are</a:t>
            </a:r>
            <a:endParaRPr lang="en-US" sz="3600" dirty="0"/>
          </a:p>
        </p:txBody>
      </p:sp>
      <p:sp>
        <p:nvSpPr>
          <p:cNvPr id="4" name="Shape 2"/>
          <p:cNvSpPr/>
          <p:nvPr/>
        </p:nvSpPr>
        <p:spPr>
          <a:xfrm>
            <a:off x="812800" y="3108325"/>
            <a:ext cx="3386634" cy="1727200"/>
          </a:xfrm>
          <a:prstGeom prst="roundRect">
            <a:avLst>
              <a:gd name="adj" fmla="val 5882"/>
            </a:avLst>
          </a:prstGeom>
          <a:solidFill>
            <a:srgbClr val="1E3246"/>
          </a:solidFill>
          <a:ln/>
        </p:spPr>
      </p:sp>
      <p:pic>
        <p:nvPicPr>
          <p:cNvPr id="5" name="Image 0" descr="Lock">    </p:cNvPr>
          <p:cNvPicPr>
            <a:picLocks noChangeAspect="1"/>
          </p:cNvPicPr>
          <p:nvPr/>
        </p:nvPicPr>
        <p:blipFill>
          <a:blip r:embed="rId1"/>
          <a:srcRect l="0" r="0" t="0" b="0"/>
          <a:stretch/>
        </p:blipFill>
        <p:spPr>
          <a:xfrm>
            <a:off x="1066800" y="3362325"/>
            <a:ext cx="355600" cy="355600"/>
          </a:xfrm>
          <a:prstGeom prst="rect">
            <a:avLst/>
          </a:prstGeom>
        </p:spPr>
      </p:pic>
      <p:sp>
        <p:nvSpPr>
          <p:cNvPr id="6" name="Text 3"/>
          <p:cNvSpPr/>
          <p:nvPr/>
        </p:nvSpPr>
        <p:spPr>
          <a:xfrm>
            <a:off x="1066800" y="3819525"/>
            <a:ext cx="2964993" cy="26670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4F2EC"/>
                </a:solidFill>
                <a:latin typeface="IBM Plex Sans" pitchFamily="34" charset="0"/>
                <a:ea typeface="IBM Plex Sans" pitchFamily="34" charset="-122"/>
                <a:cs typeface="IBM Plex Sans" pitchFamily="34" charset="-120"/>
              </a:rPr>
              <a:t>Any component</a:t>
            </a:r>
            <a:endParaRPr lang="en-US" sz="1600" dirty="0"/>
          </a:p>
        </p:txBody>
      </p:sp>
      <p:sp>
        <p:nvSpPr>
          <p:cNvPr id="7" name="Text 4"/>
          <p:cNvSpPr/>
          <p:nvPr/>
        </p:nvSpPr>
        <p:spPr>
          <a:xfrm>
            <a:off x="1066800" y="4162425"/>
            <a:ext cx="2964993" cy="44450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9C6D2"/>
                </a:solidFill>
                <a:latin typeface="IBM Plex Sans" pitchFamily="34" charset="0"/>
                <a:ea typeface="IBM Plex Sans" pitchFamily="34" charset="-122"/>
                <a:cs typeface="IBM Plex Sans" pitchFamily="34" charset="-120"/>
              </a:rPr>
              <a:t>Script Include, Business Rule, anything: not just out-of-box records</a:t>
            </a:r>
            <a:endParaRPr lang="en-US" sz="1200" dirty="0"/>
          </a:p>
        </p:txBody>
      </p:sp>
      <p:sp>
        <p:nvSpPr>
          <p:cNvPr id="8" name="Shape 5"/>
          <p:cNvSpPr/>
          <p:nvPr/>
        </p:nvSpPr>
        <p:spPr>
          <a:xfrm>
            <a:off x="4402634" y="3108325"/>
            <a:ext cx="3386634" cy="1727200"/>
          </a:xfrm>
          <a:prstGeom prst="roundRect">
            <a:avLst>
              <a:gd name="adj" fmla="val 5882"/>
            </a:avLst>
          </a:prstGeom>
          <a:solidFill>
            <a:srgbClr val="1E3246"/>
          </a:solidFill>
          <a:ln/>
        </p:spPr>
      </p:sp>
      <p:pic>
        <p:nvPicPr>
          <p:cNvPr id="9" name="Image 1" descr="Users">    </p:cNvPr>
          <p:cNvPicPr>
            <a:picLocks noChangeAspect="1"/>
          </p:cNvPicPr>
          <p:nvPr/>
        </p:nvPicPr>
        <p:blipFill>
          <a:blip r:embed="rId2"/>
          <a:srcRect l="0" r="0" t="0" b="0"/>
          <a:stretch/>
        </p:blipFill>
        <p:spPr>
          <a:xfrm>
            <a:off x="4656634" y="3362325"/>
            <a:ext cx="355600" cy="355600"/>
          </a:xfrm>
          <a:prstGeom prst="rect">
            <a:avLst/>
          </a:prstGeom>
        </p:spPr>
      </p:pic>
      <p:sp>
        <p:nvSpPr>
          <p:cNvPr id="10" name="Text 6"/>
          <p:cNvSpPr/>
          <p:nvPr/>
        </p:nvSpPr>
        <p:spPr>
          <a:xfrm>
            <a:off x="4656634" y="3819525"/>
            <a:ext cx="2964993" cy="26670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4F2EC"/>
                </a:solidFill>
                <a:latin typeface="IBM Plex Sans" pitchFamily="34" charset="0"/>
                <a:ea typeface="IBM Plex Sans" pitchFamily="34" charset="-122"/>
                <a:cs typeface="IBM Plex Sans" pitchFamily="34" charset="-120"/>
              </a:rPr>
              <a:t>An owner group</a:t>
            </a:r>
            <a:endParaRPr lang="en-US" sz="1600" dirty="0"/>
          </a:p>
        </p:txBody>
      </p:sp>
      <p:sp>
        <p:nvSpPr>
          <p:cNvPr id="11" name="Text 7"/>
          <p:cNvSpPr/>
          <p:nvPr/>
        </p:nvSpPr>
        <p:spPr>
          <a:xfrm>
            <a:off x="4656634" y="4162425"/>
            <a:ext cx="2964993" cy="44450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9C6D2"/>
                </a:solidFill>
                <a:latin typeface="IBM Plex Sans" pitchFamily="34" charset="0"/>
                <a:ea typeface="IBM Plex Sans" pitchFamily="34" charset="-122"/>
                <a:cs typeface="IBM Plex Sans" pitchFamily="34" charset="-120"/>
              </a:rPr>
              <a:t>Its members can change the component without being blocked</a:t>
            </a:r>
            <a:endParaRPr lang="en-US" sz="1200" dirty="0"/>
          </a:p>
        </p:txBody>
      </p:sp>
      <p:sp>
        <p:nvSpPr>
          <p:cNvPr id="12" name="Shape 8"/>
          <p:cNvSpPr/>
          <p:nvPr/>
        </p:nvSpPr>
        <p:spPr>
          <a:xfrm>
            <a:off x="7992467" y="3108325"/>
            <a:ext cx="3386634" cy="1727200"/>
          </a:xfrm>
          <a:prstGeom prst="roundRect">
            <a:avLst>
              <a:gd name="adj" fmla="val 5882"/>
            </a:avLst>
          </a:prstGeom>
          <a:solidFill>
            <a:srgbClr val="1E3246"/>
          </a:solidFill>
          <a:ln/>
        </p:spPr>
      </p:sp>
      <p:pic>
        <p:nvPicPr>
          <p:cNvPr id="13" name="Image 2" descr="Warning">    </p:cNvPr>
          <p:cNvPicPr>
            <a:picLocks noChangeAspect="1"/>
          </p:cNvPicPr>
          <p:nvPr/>
        </p:nvPicPr>
        <p:blipFill>
          <a:blip r:embed="rId3"/>
          <a:srcRect l="0" r="0" t="0" b="0"/>
          <a:stretch/>
        </p:blipFill>
        <p:spPr>
          <a:xfrm>
            <a:off x="8246467" y="3362325"/>
            <a:ext cx="355600" cy="355600"/>
          </a:xfrm>
          <a:prstGeom prst="rect">
            <a:avLst/>
          </a:prstGeom>
        </p:spPr>
      </p:pic>
      <p:sp>
        <p:nvSpPr>
          <p:cNvPr id="14" name="Text 9"/>
          <p:cNvSpPr/>
          <p:nvPr/>
        </p:nvSpPr>
        <p:spPr>
          <a:xfrm>
            <a:off x="8246467" y="3819525"/>
            <a:ext cx="2964993" cy="26670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4F2EC"/>
                </a:solidFill>
                <a:latin typeface="IBM Plex Sans" pitchFamily="34" charset="0"/>
                <a:ea typeface="IBM Plex Sans" pitchFamily="34" charset="-122"/>
                <a:cs typeface="IBM Plex Sans" pitchFamily="34" charset="-120"/>
              </a:rPr>
              <a:t>Everyone else: blocked</a:t>
            </a:r>
            <a:endParaRPr lang="en-US" sz="1600" dirty="0"/>
          </a:p>
        </p:txBody>
      </p:sp>
      <p:sp>
        <p:nvSpPr>
          <p:cNvPr id="15" name="Text 10"/>
          <p:cNvSpPr/>
          <p:nvPr/>
        </p:nvSpPr>
        <p:spPr>
          <a:xfrm>
            <a:off x="8246467" y="4162425"/>
            <a:ext cx="2964993" cy="44450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9C6D2"/>
                </a:solidFill>
                <a:latin typeface="IBM Plex Sans" pitchFamily="34" charset="0"/>
                <a:ea typeface="IBM Plex Sans" pitchFamily="34" charset="-122"/>
                <a:cs typeface="IBM Plex Sans" pitchFamily="34" charset="-120"/>
              </a:rPr>
              <a:t>SN-CFG-008, priority 1, with the reason the component is protected</a:t>
            </a:r>
            <a:endParaRPr lang="en-US" sz="1200" dirty="0"/>
          </a:p>
        </p:txBody>
      </p:sp>
      <p:sp>
        <p:nvSpPr>
          <p:cNvPr id="16" name="Text 11"/>
          <p:cNvSpPr/>
          <p:nvPr/>
        </p:nvSpPr>
        <p:spPr>
          <a:xfrm>
            <a:off x="812800" y="5765800"/>
            <a:ext cx="10883392" cy="30480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B9C6D2"/>
                </a:solidFill>
                <a:latin typeface="IBM Plex Sans" pitchFamily="34" charset="0"/>
                <a:ea typeface="IBM Plex Sans" pitchFamily="34" charset="-122"/>
                <a:cs typeface="IBM Plex Sans" pitchFamily="34" charset="-120"/>
              </a:rPr>
              <a:t>Managed in a list by the people who own it. A legitimate change goes through an exception request.</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2EC"/>
        </a:solidFill>
      </p:bgPr>
    </p:bg>
    <p:spTree>
      <p:nvGrpSpPr>
        <p:cNvPr id="1" name=""/>
        <p:cNvGrpSpPr/>
        <p:nvPr/>
      </p:nvGrpSpPr>
      <p:grpSpPr>
        <a:xfrm>
          <a:off x="0" y="0"/>
          <a:ext cx="0" cy="0"/>
          <a:chOff x="0" y="0"/>
          <a:chExt cx="0" cy="0"/>
        </a:xfrm>
      </p:grpSpPr>
      <p:sp>
        <p:nvSpPr>
          <p:cNvPr id="2" name="Text 0"/>
          <p:cNvSpPr/>
          <p:nvPr/>
        </p:nvSpPr>
        <p:spPr>
          <a:xfrm>
            <a:off x="812800" y="812800"/>
            <a:ext cx="10883392" cy="23495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B4561A"/>
                </a:solidFill>
                <a:latin typeface="JetBrains Mono" pitchFamily="49" charset="0"/>
                <a:ea typeface="JetBrains Mono" pitchFamily="49" charset="-122"/>
                <a:cs typeface="JetBrains Mono" pitchFamily="49" charset="-120"/>
              </a:rPr>
              <a:t>NEW: EXCEPTIONS</a:t>
            </a:r>
            <a:endParaRPr lang="en-US" sz="1200" dirty="0"/>
          </a:p>
        </p:txBody>
      </p:sp>
      <p:sp>
        <p:nvSpPr>
          <p:cNvPr id="3" name="Text 1"/>
          <p:cNvSpPr/>
          <p:nvPr>
            <p:ph type="title"/>
          </p:nvPr>
        </p:nvSpPr>
        <p:spPr>
          <a:xfrm>
            <a:off x="812800" y="1174750"/>
            <a:ext cx="9810750" cy="102870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2202E"/>
                </a:solidFill>
                <a:latin typeface="IBM Plex Sans" pitchFamily="34" charset="0"/>
                <a:ea typeface="IBM Plex Sans" pitchFamily="34" charset="-122"/>
                <a:cs typeface="IBM Plex Sans" pitchFamily="34" charset="-120"/>
              </a:rPr>
              <a:t>When the code is deliberate, ask for an exception</a:t>
            </a:r>
            <a:endParaRPr lang="en-US" sz="3600" dirty="0"/>
          </a:p>
        </p:txBody>
      </p:sp>
      <p:sp>
        <p:nvSpPr>
          <p:cNvPr id="4" name="Shape 2"/>
          <p:cNvSpPr/>
          <p:nvPr/>
        </p:nvSpPr>
        <p:spPr>
          <a:xfrm>
            <a:off x="819150" y="3146425"/>
            <a:ext cx="2514600" cy="1651000"/>
          </a:xfrm>
          <a:prstGeom prst="roundRect">
            <a:avLst>
              <a:gd name="adj" fmla="val 5769"/>
            </a:avLst>
          </a:prstGeom>
          <a:solidFill>
            <a:srgbClr val="FFFDF8"/>
          </a:solidFill>
          <a:ln w="12700">
            <a:solidFill>
              <a:srgbClr val="D5D2C8"/>
            </a:solidFill>
            <a:prstDash val="solid"/>
          </a:ln>
        </p:spPr>
      </p:sp>
      <p:sp>
        <p:nvSpPr>
          <p:cNvPr id="5" name="Text 3"/>
          <p:cNvSpPr/>
          <p:nvPr/>
        </p:nvSpPr>
        <p:spPr>
          <a:xfrm>
            <a:off x="1028700" y="3355975"/>
            <a:ext cx="2158365" cy="23495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4561A"/>
                </a:solidFill>
                <a:latin typeface="JetBrains Mono" pitchFamily="49" charset="0"/>
                <a:ea typeface="JetBrains Mono" pitchFamily="49" charset="-122"/>
                <a:cs typeface="JetBrains Mono" pitchFamily="49" charset="-120"/>
              </a:rPr>
              <a:t>01</a:t>
            </a:r>
            <a:endParaRPr lang="en-US" sz="1200" dirty="0"/>
          </a:p>
        </p:txBody>
      </p:sp>
      <p:sp>
        <p:nvSpPr>
          <p:cNvPr id="6" name="Text 4"/>
          <p:cNvSpPr/>
          <p:nvPr/>
        </p:nvSpPr>
        <p:spPr>
          <a:xfrm>
            <a:off x="1028700" y="3641725"/>
            <a:ext cx="2158365" cy="26670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2202E"/>
                </a:solidFill>
                <a:latin typeface="IBM Plex Sans" pitchFamily="34" charset="0"/>
                <a:ea typeface="IBM Plex Sans" pitchFamily="34" charset="-122"/>
                <a:cs typeface="IBM Plex Sans" pitchFamily="34" charset="-120"/>
              </a:rPr>
              <a:t>Request</a:t>
            </a:r>
            <a:endParaRPr lang="en-US" sz="1600" dirty="0"/>
          </a:p>
        </p:txBody>
      </p:sp>
      <p:sp>
        <p:nvSpPr>
          <p:cNvPr id="7" name="Text 5"/>
          <p:cNvSpPr/>
          <p:nvPr/>
        </p:nvSpPr>
        <p:spPr>
          <a:xfrm>
            <a:off x="1028700" y="3959225"/>
            <a:ext cx="2158365" cy="44450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525E"/>
                </a:solidFill>
                <a:latin typeface="IBM Plex Sans" pitchFamily="34" charset="0"/>
                <a:ea typeface="IBM Plex Sans" pitchFamily="34" charset="-122"/>
                <a:cs typeface="IBM Plex Sans" pitchFamily="34" charset="-120"/>
              </a:rPr>
              <a:t>On the finding, click Request exception and explain why</a:t>
            </a:r>
            <a:endParaRPr lang="en-US" sz="1200" dirty="0"/>
          </a:p>
        </p:txBody>
      </p:sp>
      <p:sp>
        <p:nvSpPr>
          <p:cNvPr id="8" name="Shape 6"/>
          <p:cNvSpPr/>
          <p:nvPr/>
        </p:nvSpPr>
        <p:spPr>
          <a:xfrm>
            <a:off x="3498850" y="3146425"/>
            <a:ext cx="2514600" cy="1651000"/>
          </a:xfrm>
          <a:prstGeom prst="roundRect">
            <a:avLst>
              <a:gd name="adj" fmla="val 5769"/>
            </a:avLst>
          </a:prstGeom>
          <a:solidFill>
            <a:srgbClr val="FFFDF8"/>
          </a:solidFill>
          <a:ln w="12700">
            <a:solidFill>
              <a:srgbClr val="D5D2C8"/>
            </a:solidFill>
            <a:prstDash val="solid"/>
          </a:ln>
        </p:spPr>
      </p:sp>
      <p:sp>
        <p:nvSpPr>
          <p:cNvPr id="9" name="Text 7"/>
          <p:cNvSpPr/>
          <p:nvPr/>
        </p:nvSpPr>
        <p:spPr>
          <a:xfrm>
            <a:off x="3708400" y="3355975"/>
            <a:ext cx="2158365" cy="23495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4561A"/>
                </a:solidFill>
                <a:latin typeface="JetBrains Mono" pitchFamily="49" charset="0"/>
                <a:ea typeface="JetBrains Mono" pitchFamily="49" charset="-122"/>
                <a:cs typeface="JetBrains Mono" pitchFamily="49" charset="-120"/>
              </a:rPr>
              <a:t>02</a:t>
            </a:r>
            <a:endParaRPr lang="en-US" sz="1200" dirty="0"/>
          </a:p>
        </p:txBody>
      </p:sp>
      <p:sp>
        <p:nvSpPr>
          <p:cNvPr id="10" name="Text 8"/>
          <p:cNvSpPr/>
          <p:nvPr/>
        </p:nvSpPr>
        <p:spPr>
          <a:xfrm>
            <a:off x="3708400" y="3641725"/>
            <a:ext cx="2158365" cy="26670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2202E"/>
                </a:solidFill>
                <a:latin typeface="IBM Plex Sans" pitchFamily="34" charset="0"/>
                <a:ea typeface="IBM Plex Sans" pitchFamily="34" charset="-122"/>
                <a:cs typeface="IBM Plex Sans" pitchFamily="34" charset="-120"/>
              </a:rPr>
              <a:t>Decide</a:t>
            </a:r>
            <a:endParaRPr lang="en-US" sz="1600" dirty="0"/>
          </a:p>
        </p:txBody>
      </p:sp>
      <p:sp>
        <p:nvSpPr>
          <p:cNvPr id="11" name="Text 9"/>
          <p:cNvSpPr/>
          <p:nvPr/>
        </p:nvSpPr>
        <p:spPr>
          <a:xfrm>
            <a:off x="3708400" y="3959225"/>
            <a:ext cx="2158365" cy="65405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525E"/>
                </a:solidFill>
                <a:latin typeface="IBM Plex Sans" pitchFamily="34" charset="0"/>
                <a:ea typeface="IBM Plex Sans" pitchFamily="34" charset="-122"/>
                <a:cs typeface="IBM Plex Sans" pitchFamily="34" charset="-120"/>
              </a:rPr>
              <a:t>A Peer Reviewer member approves or rejects it, never their own</a:t>
            </a:r>
            <a:endParaRPr lang="en-US" sz="1200" dirty="0"/>
          </a:p>
        </p:txBody>
      </p:sp>
      <p:sp>
        <p:nvSpPr>
          <p:cNvPr id="12" name="Shape 10"/>
          <p:cNvSpPr/>
          <p:nvPr/>
        </p:nvSpPr>
        <p:spPr>
          <a:xfrm>
            <a:off x="6178550" y="3146425"/>
            <a:ext cx="2514600" cy="1651000"/>
          </a:xfrm>
          <a:prstGeom prst="roundRect">
            <a:avLst>
              <a:gd name="adj" fmla="val 5769"/>
            </a:avLst>
          </a:prstGeom>
          <a:solidFill>
            <a:srgbClr val="FFFDF8"/>
          </a:solidFill>
          <a:ln w="12700">
            <a:solidFill>
              <a:srgbClr val="D5D2C8"/>
            </a:solidFill>
            <a:prstDash val="solid"/>
          </a:ln>
        </p:spPr>
      </p:sp>
      <p:sp>
        <p:nvSpPr>
          <p:cNvPr id="13" name="Text 11"/>
          <p:cNvSpPr/>
          <p:nvPr/>
        </p:nvSpPr>
        <p:spPr>
          <a:xfrm>
            <a:off x="6388100" y="3355975"/>
            <a:ext cx="2158365" cy="23495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4561A"/>
                </a:solidFill>
                <a:latin typeface="JetBrains Mono" pitchFamily="49" charset="0"/>
                <a:ea typeface="JetBrains Mono" pitchFamily="49" charset="-122"/>
                <a:cs typeface="JetBrains Mono" pitchFamily="49" charset="-120"/>
              </a:rPr>
              <a:t>03</a:t>
            </a:r>
            <a:endParaRPr lang="en-US" sz="1200" dirty="0"/>
          </a:p>
        </p:txBody>
      </p:sp>
      <p:sp>
        <p:nvSpPr>
          <p:cNvPr id="14" name="Text 12"/>
          <p:cNvSpPr/>
          <p:nvPr/>
        </p:nvSpPr>
        <p:spPr>
          <a:xfrm>
            <a:off x="6388100" y="3641725"/>
            <a:ext cx="2158365" cy="26670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2202E"/>
                </a:solidFill>
                <a:latin typeface="IBM Plex Sans" pitchFamily="34" charset="0"/>
                <a:ea typeface="IBM Plex Sans" pitchFamily="34" charset="-122"/>
                <a:cs typeface="IBM Plex Sans" pitchFamily="34" charset="-120"/>
              </a:rPr>
              <a:t>Run again</a:t>
            </a:r>
            <a:endParaRPr lang="en-US" sz="1600" dirty="0"/>
          </a:p>
        </p:txBody>
      </p:sp>
      <p:sp>
        <p:nvSpPr>
          <p:cNvPr id="15" name="Text 13"/>
          <p:cNvSpPr/>
          <p:nvPr/>
        </p:nvSpPr>
        <p:spPr>
          <a:xfrm>
            <a:off x="6388100" y="3959225"/>
            <a:ext cx="2158365" cy="44450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525E"/>
                </a:solidFill>
                <a:latin typeface="IBM Plex Sans" pitchFamily="34" charset="0"/>
                <a:ea typeface="IBM Plex Sans" pitchFamily="34" charset="-122"/>
                <a:cs typeface="IBM Plex Sans" pitchFamily="34" charset="-120"/>
              </a:rPr>
              <a:t>Scan &amp; Complete lets that finding through</a:t>
            </a:r>
            <a:endParaRPr lang="en-US" sz="1200" dirty="0"/>
          </a:p>
        </p:txBody>
      </p:sp>
      <p:sp>
        <p:nvSpPr>
          <p:cNvPr id="16" name="Shape 14"/>
          <p:cNvSpPr/>
          <p:nvPr/>
        </p:nvSpPr>
        <p:spPr>
          <a:xfrm>
            <a:off x="8851900" y="3140075"/>
            <a:ext cx="2527300" cy="1663700"/>
          </a:xfrm>
          <a:prstGeom prst="roundRect">
            <a:avLst>
              <a:gd name="adj" fmla="val 6107"/>
            </a:avLst>
          </a:prstGeom>
          <a:solidFill>
            <a:srgbClr val="12202E"/>
          </a:solidFill>
          <a:ln/>
        </p:spPr>
      </p:sp>
      <p:sp>
        <p:nvSpPr>
          <p:cNvPr id="17" name="Text 15"/>
          <p:cNvSpPr/>
          <p:nvPr/>
        </p:nvSpPr>
        <p:spPr>
          <a:xfrm>
            <a:off x="9055100" y="3343275"/>
            <a:ext cx="2184527" cy="23495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8833A"/>
                </a:solidFill>
                <a:latin typeface="JetBrains Mono" pitchFamily="49" charset="0"/>
                <a:ea typeface="JetBrains Mono" pitchFamily="49" charset="-122"/>
                <a:cs typeface="JetBrains Mono" pitchFamily="49" charset="-120"/>
              </a:rPr>
              <a:t>04</a:t>
            </a:r>
            <a:endParaRPr lang="en-US" sz="1200" dirty="0"/>
          </a:p>
        </p:txBody>
      </p:sp>
      <p:sp>
        <p:nvSpPr>
          <p:cNvPr id="18" name="Text 16"/>
          <p:cNvSpPr/>
          <p:nvPr/>
        </p:nvSpPr>
        <p:spPr>
          <a:xfrm>
            <a:off x="9055100" y="3629025"/>
            <a:ext cx="2184527" cy="26670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4F2EC"/>
                </a:solidFill>
                <a:latin typeface="IBM Plex Sans" pitchFamily="34" charset="0"/>
                <a:ea typeface="IBM Plex Sans" pitchFamily="34" charset="-122"/>
                <a:cs typeface="IBM Plex Sans" pitchFamily="34" charset="-120"/>
              </a:rPr>
              <a:t>Still visible</a:t>
            </a:r>
            <a:endParaRPr lang="en-US" sz="1600" dirty="0"/>
          </a:p>
        </p:txBody>
      </p:sp>
      <p:sp>
        <p:nvSpPr>
          <p:cNvPr id="19" name="Text 17"/>
          <p:cNvSpPr/>
          <p:nvPr/>
        </p:nvSpPr>
        <p:spPr>
          <a:xfrm>
            <a:off x="9055100" y="3946525"/>
            <a:ext cx="2184527" cy="44450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9C6D2"/>
                </a:solidFill>
                <a:latin typeface="IBM Plex Sans" pitchFamily="34" charset="0"/>
                <a:ea typeface="IBM Plex Sans" pitchFamily="34" charset="-122"/>
                <a:cs typeface="IBM Plex Sans" pitchFamily="34" charset="-120"/>
              </a:rPr>
              <a:t>The peer review lists every approved exception</a:t>
            </a:r>
            <a:endParaRPr lang="en-US" sz="1200" dirty="0"/>
          </a:p>
        </p:txBody>
      </p:sp>
      <p:sp>
        <p:nvSpPr>
          <p:cNvPr id="20" name="Text 18"/>
          <p:cNvSpPr/>
          <p:nvPr/>
        </p:nvSpPr>
        <p:spPr>
          <a:xfrm>
            <a:off x="812800" y="5765800"/>
            <a:ext cx="10883392" cy="30480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6525E"/>
                </a:solidFill>
                <a:latin typeface="IBM Plex Sans" pitchFamily="34" charset="0"/>
                <a:ea typeface="IBM Plex Sans" pitchFamily="34" charset="-122"/>
                <a:cs typeface="IBM Plex Sans" pitchFamily="34" charset="-120"/>
              </a:rPr>
              <a:t>It covers that exact finding in that update set. Change the code, and it blocks again.</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2EC"/>
        </a:solidFill>
      </p:bgPr>
    </p:bg>
    <p:spTree>
      <p:nvGrpSpPr>
        <p:cNvPr id="1" name=""/>
        <p:cNvGrpSpPr/>
        <p:nvPr/>
      </p:nvGrpSpPr>
      <p:grpSpPr>
        <a:xfrm>
          <a:off x="0" y="0"/>
          <a:ext cx="0" cy="0"/>
          <a:chOff x="0" y="0"/>
          <a:chExt cx="0" cy="0"/>
        </a:xfrm>
      </p:grpSpPr>
      <p:sp>
        <p:nvSpPr>
          <p:cNvPr id="2" name="Text 0"/>
          <p:cNvSpPr/>
          <p:nvPr/>
        </p:nvSpPr>
        <p:spPr>
          <a:xfrm>
            <a:off x="812800" y="812800"/>
            <a:ext cx="10883392" cy="23495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B4561A"/>
                </a:solidFill>
                <a:latin typeface="JetBrains Mono" pitchFamily="49" charset="0"/>
                <a:ea typeface="JetBrains Mono" pitchFamily="49" charset="-122"/>
                <a:cs typeface="JetBrains Mono" pitchFamily="49" charset="-120"/>
              </a:rPr>
              <a:t>HELP IS BUILT IN</a:t>
            </a:r>
            <a:endParaRPr lang="en-US" sz="1200" dirty="0"/>
          </a:p>
        </p:txBody>
      </p:sp>
      <p:sp>
        <p:nvSpPr>
          <p:cNvPr id="3" name="Text 1"/>
          <p:cNvSpPr/>
          <p:nvPr>
            <p:ph type="title"/>
          </p:nvPr>
        </p:nvSpPr>
        <p:spPr>
          <a:xfrm>
            <a:off x="812800" y="1174750"/>
            <a:ext cx="10883392" cy="52705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2202E"/>
                </a:solidFill>
                <a:latin typeface="IBM Plex Sans" pitchFamily="34" charset="0"/>
                <a:ea typeface="IBM Plex Sans" pitchFamily="34" charset="-122"/>
                <a:cs typeface="IBM Plex Sans" pitchFamily="34" charset="-120"/>
              </a:rPr>
              <a:t>Every rule explains itself</a:t>
            </a:r>
            <a:endParaRPr lang="en-US" sz="3600" dirty="0"/>
          </a:p>
        </p:txBody>
      </p:sp>
      <p:sp>
        <p:nvSpPr>
          <p:cNvPr id="4" name="Shape 2"/>
          <p:cNvSpPr/>
          <p:nvPr/>
        </p:nvSpPr>
        <p:spPr>
          <a:xfrm>
            <a:off x="819150" y="2695575"/>
            <a:ext cx="3373934" cy="2051050"/>
          </a:xfrm>
          <a:prstGeom prst="roundRect">
            <a:avLst>
              <a:gd name="adj" fmla="val 4644"/>
            </a:avLst>
          </a:prstGeom>
          <a:solidFill>
            <a:srgbClr val="FFFDF8"/>
          </a:solidFill>
          <a:ln w="12700">
            <a:solidFill>
              <a:srgbClr val="D5D2C8"/>
            </a:solidFill>
            <a:prstDash val="solid"/>
          </a:ln>
        </p:spPr>
      </p:sp>
      <p:sp>
        <p:nvSpPr>
          <p:cNvPr id="5" name="Text 3"/>
          <p:cNvSpPr/>
          <p:nvPr/>
        </p:nvSpPr>
        <p:spPr>
          <a:xfrm>
            <a:off x="1079500" y="2955925"/>
            <a:ext cx="2938831" cy="482600"/>
          </a:xfrm>
          <a:prstGeom prst="rect">
            <a:avLst/>
          </a:prstGeom>
          <a:noFill/>
          <a:ln/>
        </p:spPr>
        <p:txBody>
          <a:bodyPr wrap="square" lIns="0" tIns="0" rIns="0" bIns="0" rtlCol="0" anchor="t">
            <a:normAutofit/>
          </a:bodyPr>
          <a:lstStyle/>
          <a:p>
            <a:pPr algn="l" indent="0" marL="0">
              <a:lnSpc>
                <a:spcPts val="3600"/>
              </a:lnSpc>
              <a:buNone/>
            </a:pPr>
            <a:r>
              <a:rPr lang="en-US" sz="3600" b="1" dirty="0">
                <a:solidFill>
                  <a:srgbClr val="2F6FB0"/>
                </a:solidFill>
                <a:latin typeface="IBM Plex Sans" pitchFamily="34" charset="0"/>
                <a:ea typeface="IBM Plex Sans" pitchFamily="34" charset="-122"/>
                <a:cs typeface="IBM Plex Sans" pitchFamily="34" charset="-120"/>
              </a:rPr>
              <a:t>38</a:t>
            </a:r>
            <a:endParaRPr lang="en-US" sz="3600" dirty="0"/>
          </a:p>
        </p:txBody>
      </p:sp>
      <p:sp>
        <p:nvSpPr>
          <p:cNvPr id="6" name="Text 4"/>
          <p:cNvSpPr/>
          <p:nvPr/>
        </p:nvSpPr>
        <p:spPr>
          <a:xfrm>
            <a:off x="1079500" y="3514725"/>
            <a:ext cx="2938831" cy="26670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2202E"/>
                </a:solidFill>
                <a:latin typeface="IBM Plex Sans" pitchFamily="34" charset="0"/>
                <a:ea typeface="IBM Plex Sans" pitchFamily="34" charset="-122"/>
                <a:cs typeface="IBM Plex Sans" pitchFamily="34" charset="-120"/>
              </a:rPr>
              <a:t>Knowledge articles</a:t>
            </a:r>
            <a:endParaRPr lang="en-US" sz="1600" dirty="0"/>
          </a:p>
        </p:txBody>
      </p:sp>
      <p:sp>
        <p:nvSpPr>
          <p:cNvPr id="7" name="Text 5"/>
          <p:cNvSpPr/>
          <p:nvPr/>
        </p:nvSpPr>
        <p:spPr>
          <a:xfrm>
            <a:off x="1079500" y="3857625"/>
            <a:ext cx="2938831" cy="65405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525E"/>
                </a:solidFill>
                <a:latin typeface="IBM Plex Sans" pitchFamily="34" charset="0"/>
                <a:ea typeface="IBM Plex Sans" pitchFamily="34" charset="-122"/>
                <a:cs typeface="IBM Plex Sans" pitchFamily="34" charset="-120"/>
              </a:rPr>
              <a:t>An overview plus one per rule: what it catches, why it matters, and the fix with an example</a:t>
            </a:r>
            <a:endParaRPr lang="en-US" sz="1200" dirty="0"/>
          </a:p>
        </p:txBody>
      </p:sp>
      <p:sp>
        <p:nvSpPr>
          <p:cNvPr id="8" name="Shape 6"/>
          <p:cNvSpPr/>
          <p:nvPr/>
        </p:nvSpPr>
        <p:spPr>
          <a:xfrm>
            <a:off x="4408984" y="2695575"/>
            <a:ext cx="3373934" cy="2051050"/>
          </a:xfrm>
          <a:prstGeom prst="roundRect">
            <a:avLst>
              <a:gd name="adj" fmla="val 4644"/>
            </a:avLst>
          </a:prstGeom>
          <a:solidFill>
            <a:srgbClr val="FFFDF8"/>
          </a:solidFill>
          <a:ln w="12700">
            <a:solidFill>
              <a:srgbClr val="D5D2C8"/>
            </a:solidFill>
            <a:prstDash val="solid"/>
          </a:ln>
        </p:spPr>
      </p:sp>
      <p:pic>
        <p:nvPicPr>
          <p:cNvPr id="9" name="Image 0" descr="Link">    </p:cNvPr>
          <p:cNvPicPr>
            <a:picLocks noChangeAspect="1"/>
          </p:cNvPicPr>
          <p:nvPr/>
        </p:nvPicPr>
        <p:blipFill>
          <a:blip r:embed="rId1"/>
          <a:srcRect l="0" r="0" t="0" b="0"/>
          <a:stretch/>
        </p:blipFill>
        <p:spPr>
          <a:xfrm>
            <a:off x="4669334" y="2955925"/>
            <a:ext cx="457200" cy="457200"/>
          </a:xfrm>
          <a:prstGeom prst="rect">
            <a:avLst/>
          </a:prstGeom>
        </p:spPr>
      </p:pic>
      <p:sp>
        <p:nvSpPr>
          <p:cNvPr id="10" name="Text 7"/>
          <p:cNvSpPr/>
          <p:nvPr/>
        </p:nvSpPr>
        <p:spPr>
          <a:xfrm>
            <a:off x="4669334" y="3514725"/>
            <a:ext cx="2938831" cy="26670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2202E"/>
                </a:solidFill>
                <a:latin typeface="IBM Plex Sans" pitchFamily="34" charset="0"/>
                <a:ea typeface="IBM Plex Sans" pitchFamily="34" charset="-122"/>
                <a:cs typeface="IBM Plex Sans" pitchFamily="34" charset="-120"/>
              </a:rPr>
              <a:t>Linked from findings</a:t>
            </a:r>
            <a:endParaRPr lang="en-US" sz="1600" dirty="0"/>
          </a:p>
        </p:txBody>
      </p:sp>
      <p:sp>
        <p:nvSpPr>
          <p:cNvPr id="11" name="Text 8"/>
          <p:cNvSpPr/>
          <p:nvPr/>
        </p:nvSpPr>
        <p:spPr>
          <a:xfrm>
            <a:off x="4669334" y="3857625"/>
            <a:ext cx="2938831" cy="44450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525E"/>
                </a:solidFill>
                <a:latin typeface="IBM Plex Sans" pitchFamily="34" charset="0"/>
                <a:ea typeface="IBM Plex Sans" pitchFamily="34" charset="-122"/>
                <a:cs typeface="IBM Plex Sans" pitchFamily="34" charset="-120"/>
              </a:rPr>
              <a:t>The Documentation link on each finding opens its article</a:t>
            </a:r>
            <a:endParaRPr lang="en-US" sz="1200" dirty="0"/>
          </a:p>
        </p:txBody>
      </p:sp>
      <p:sp>
        <p:nvSpPr>
          <p:cNvPr id="12" name="Shape 9"/>
          <p:cNvSpPr/>
          <p:nvPr/>
        </p:nvSpPr>
        <p:spPr>
          <a:xfrm>
            <a:off x="7998817" y="2695575"/>
            <a:ext cx="3373934" cy="2051050"/>
          </a:xfrm>
          <a:prstGeom prst="roundRect">
            <a:avLst>
              <a:gd name="adj" fmla="val 4644"/>
            </a:avLst>
          </a:prstGeom>
          <a:solidFill>
            <a:srgbClr val="FFFDF8"/>
          </a:solidFill>
          <a:ln w="12700">
            <a:solidFill>
              <a:srgbClr val="D5D2C8"/>
            </a:solidFill>
            <a:prstDash val="solid"/>
          </a:ln>
        </p:spPr>
      </p:sp>
      <p:pic>
        <p:nvPicPr>
          <p:cNvPr id="13" name="Image 1" descr="Home">    </p:cNvPr>
          <p:cNvPicPr>
            <a:picLocks noChangeAspect="1"/>
          </p:cNvPicPr>
          <p:nvPr/>
        </p:nvPicPr>
        <p:blipFill>
          <a:blip r:embed="rId2"/>
          <a:srcRect l="0" r="0" t="0" b="0"/>
          <a:stretch/>
        </p:blipFill>
        <p:spPr>
          <a:xfrm>
            <a:off x="8259167" y="2955925"/>
            <a:ext cx="457200" cy="457200"/>
          </a:xfrm>
          <a:prstGeom prst="rect">
            <a:avLst/>
          </a:prstGeom>
        </p:spPr>
      </p:pic>
      <p:sp>
        <p:nvSpPr>
          <p:cNvPr id="14" name="Text 10"/>
          <p:cNvSpPr/>
          <p:nvPr/>
        </p:nvSpPr>
        <p:spPr>
          <a:xfrm>
            <a:off x="8259167" y="3514725"/>
            <a:ext cx="2938831" cy="26670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2202E"/>
                </a:solidFill>
                <a:latin typeface="IBM Plex Sans" pitchFamily="34" charset="0"/>
                <a:ea typeface="IBM Plex Sans" pitchFamily="34" charset="-122"/>
                <a:cs typeface="IBM Plex Sans" pitchFamily="34" charset="-120"/>
              </a:rPr>
              <a:t>One menu</a:t>
            </a:r>
            <a:endParaRPr lang="en-US" sz="1600" dirty="0"/>
          </a:p>
        </p:txBody>
      </p:sp>
      <p:sp>
        <p:nvSpPr>
          <p:cNvPr id="15" name="Text 11"/>
          <p:cNvSpPr/>
          <p:nvPr/>
        </p:nvSpPr>
        <p:spPr>
          <a:xfrm>
            <a:off x="8259167" y="3857625"/>
            <a:ext cx="2938831" cy="65405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525E"/>
                </a:solidFill>
                <a:latin typeface="IBM Plex Sans" pitchFamily="34" charset="0"/>
                <a:ea typeface="IBM Plex Sans" pitchFamily="34" charset="-122"/>
                <a:cs typeface="IBM Plex Sans" pitchFamily="34" charset="-120"/>
              </a:rPr>
              <a:t>Enterprise Coding Standard: dashboard, documentation, results, exceptions and configuration</a:t>
            </a:r>
            <a:endParaRPr lang="en-US" sz="1200" dirty="0"/>
          </a:p>
        </p:txBody>
      </p:sp>
      <p:sp>
        <p:nvSpPr>
          <p:cNvPr id="16" name="Text 12"/>
          <p:cNvSpPr/>
          <p:nvPr/>
        </p:nvSpPr>
        <p:spPr>
          <a:xfrm>
            <a:off x="812800" y="5765800"/>
            <a:ext cx="10883392" cy="30480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6525E"/>
                </a:solidFill>
                <a:latin typeface="IBM Plex Sans" pitchFamily="34" charset="0"/>
                <a:ea typeface="IBM Plex Sans" pitchFamily="34" charset="-122"/>
                <a:cs typeface="IBM Plex Sans" pitchFamily="34" charset="-120"/>
              </a:rPr>
              <a:t>Readable by everyone, in the Development Standards knowledge base.</a:t>
            </a:r>
            <a:endParaRPr lang="en-US"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2202E"/>
        </a:solidFill>
      </p:bgPr>
    </p:bg>
    <p:spTree>
      <p:nvGrpSpPr>
        <p:cNvPr id="1" name=""/>
        <p:cNvGrpSpPr/>
        <p:nvPr/>
      </p:nvGrpSpPr>
      <p:grpSpPr>
        <a:xfrm>
          <a:off x="0" y="0"/>
          <a:ext cx="0" cy="0"/>
          <a:chOff x="0" y="0"/>
          <a:chExt cx="0" cy="0"/>
        </a:xfrm>
      </p:grpSpPr>
      <p:sp>
        <p:nvSpPr>
          <p:cNvPr id="2" name="Text 0"/>
          <p:cNvSpPr/>
          <p:nvPr/>
        </p:nvSpPr>
        <p:spPr>
          <a:xfrm>
            <a:off x="812800" y="812800"/>
            <a:ext cx="10883392" cy="23495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E8833A"/>
                </a:solidFill>
                <a:latin typeface="JetBrains Mono" pitchFamily="49" charset="0"/>
                <a:ea typeface="JetBrains Mono" pitchFamily="49" charset="-122"/>
                <a:cs typeface="JetBrains Mono" pitchFamily="49" charset="-120"/>
              </a:rPr>
              <a:t>NEW: DASHBOARD</a:t>
            </a:r>
            <a:endParaRPr lang="en-US" sz="1200" dirty="0"/>
          </a:p>
        </p:txBody>
      </p:sp>
      <p:sp>
        <p:nvSpPr>
          <p:cNvPr id="3" name="Text 1"/>
          <p:cNvSpPr/>
          <p:nvPr>
            <p:ph type="title"/>
          </p:nvPr>
        </p:nvSpPr>
        <p:spPr>
          <a:xfrm>
            <a:off x="812800" y="1174750"/>
            <a:ext cx="9810750" cy="102870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F4F2EC"/>
                </a:solidFill>
                <a:latin typeface="IBM Plex Sans" pitchFamily="34" charset="0"/>
                <a:ea typeface="IBM Plex Sans" pitchFamily="34" charset="-122"/>
                <a:cs typeface="IBM Plex Sans" pitchFamily="34" charset="-120"/>
              </a:rPr>
              <a:t>Lead developers see how development is going</a:t>
            </a:r>
            <a:endParaRPr lang="en-US" sz="3600" dirty="0"/>
          </a:p>
        </p:txBody>
      </p:sp>
      <p:sp>
        <p:nvSpPr>
          <p:cNvPr id="4" name="Shape 2"/>
          <p:cNvSpPr/>
          <p:nvPr/>
        </p:nvSpPr>
        <p:spPr>
          <a:xfrm>
            <a:off x="812800" y="2863850"/>
            <a:ext cx="3420467" cy="1066800"/>
          </a:xfrm>
          <a:prstGeom prst="roundRect">
            <a:avLst>
              <a:gd name="adj" fmla="val 9524"/>
            </a:avLst>
          </a:prstGeom>
          <a:solidFill>
            <a:srgbClr val="1E3246"/>
          </a:solidFill>
          <a:ln/>
        </p:spPr>
      </p:sp>
      <p:pic>
        <p:nvPicPr>
          <p:cNvPr id="5" name="Image 0" descr="Chart">    </p:cNvPr>
          <p:cNvPicPr>
            <a:picLocks noChangeAspect="1"/>
          </p:cNvPicPr>
          <p:nvPr/>
        </p:nvPicPr>
        <p:blipFill>
          <a:blip r:embed="rId1"/>
          <a:srcRect l="0" r="0" t="0" b="0"/>
          <a:stretch/>
        </p:blipFill>
        <p:spPr>
          <a:xfrm>
            <a:off x="990600" y="3041650"/>
            <a:ext cx="254000" cy="254000"/>
          </a:xfrm>
          <a:prstGeom prst="rect">
            <a:avLst/>
          </a:prstGeom>
        </p:spPr>
      </p:pic>
      <p:sp>
        <p:nvSpPr>
          <p:cNvPr id="6" name="Text 3"/>
          <p:cNvSpPr/>
          <p:nvPr/>
        </p:nvSpPr>
        <p:spPr>
          <a:xfrm>
            <a:off x="1371600" y="3041650"/>
            <a:ext cx="2512881" cy="26670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4F2EC"/>
                </a:solidFill>
                <a:latin typeface="IBM Plex Sans" pitchFamily="34" charset="0"/>
                <a:ea typeface="IBM Plex Sans" pitchFamily="34" charset="-122"/>
                <a:cs typeface="IBM Plex Sans" pitchFamily="34" charset="-120"/>
              </a:rPr>
              <a:t>Are we passing the gate?</a:t>
            </a:r>
            <a:endParaRPr lang="en-US" sz="1600" dirty="0"/>
          </a:p>
        </p:txBody>
      </p:sp>
      <p:sp>
        <p:nvSpPr>
          <p:cNvPr id="7" name="Text 4"/>
          <p:cNvSpPr/>
          <p:nvPr/>
        </p:nvSpPr>
        <p:spPr>
          <a:xfrm>
            <a:off x="1371600" y="3333750"/>
            <a:ext cx="2861667" cy="23495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9C6D2"/>
                </a:solidFill>
                <a:latin typeface="IBM Plex Sans" pitchFamily="34" charset="0"/>
                <a:ea typeface="IBM Plex Sans" pitchFamily="34" charset="-122"/>
                <a:cs typeface="IBM Plex Sans" pitchFamily="34" charset="-120"/>
              </a:rPr>
              <a:t>Blocked and passed scans, by week</a:t>
            </a:r>
            <a:endParaRPr lang="en-US" sz="1200" dirty="0"/>
          </a:p>
        </p:txBody>
      </p:sp>
      <p:sp>
        <p:nvSpPr>
          <p:cNvPr id="8" name="Shape 5"/>
          <p:cNvSpPr/>
          <p:nvPr/>
        </p:nvSpPr>
        <p:spPr>
          <a:xfrm>
            <a:off x="4385667" y="2863850"/>
            <a:ext cx="3420566" cy="1066800"/>
          </a:xfrm>
          <a:prstGeom prst="roundRect">
            <a:avLst>
              <a:gd name="adj" fmla="val 9524"/>
            </a:avLst>
          </a:prstGeom>
          <a:solidFill>
            <a:srgbClr val="1E3246"/>
          </a:solidFill>
          <a:ln/>
        </p:spPr>
      </p:sp>
      <p:pic>
        <p:nvPicPr>
          <p:cNvPr id="9" name="Image 1" descr="CheckCircle">    </p:cNvPr>
          <p:cNvPicPr>
            <a:picLocks noChangeAspect="1"/>
          </p:cNvPicPr>
          <p:nvPr/>
        </p:nvPicPr>
        <p:blipFill>
          <a:blip r:embed="rId2"/>
          <a:srcRect l="-507" r="-507" t="0" b="0"/>
          <a:stretch/>
        </p:blipFill>
        <p:spPr>
          <a:xfrm>
            <a:off x="4563467" y="3041650"/>
            <a:ext cx="237331" cy="254000"/>
          </a:xfrm>
          <a:prstGeom prst="rect">
            <a:avLst/>
          </a:prstGeom>
        </p:spPr>
      </p:pic>
      <p:sp>
        <p:nvSpPr>
          <p:cNvPr id="10" name="Text 6"/>
          <p:cNvSpPr/>
          <p:nvPr/>
        </p:nvSpPr>
        <p:spPr>
          <a:xfrm>
            <a:off x="4927798" y="3041650"/>
            <a:ext cx="2781654" cy="26670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4F2EC"/>
                </a:solidFill>
                <a:latin typeface="IBM Plex Sans" pitchFamily="34" charset="0"/>
                <a:ea typeface="IBM Plex Sans" pitchFamily="34" charset="-122"/>
                <a:cs typeface="IBM Plex Sans" pitchFamily="34" charset="-120"/>
              </a:rPr>
              <a:t>Right the first time?</a:t>
            </a:r>
            <a:endParaRPr lang="en-US" sz="1600" dirty="0"/>
          </a:p>
        </p:txBody>
      </p:sp>
      <p:sp>
        <p:nvSpPr>
          <p:cNvPr id="11" name="Text 7"/>
          <p:cNvSpPr/>
          <p:nvPr/>
        </p:nvSpPr>
        <p:spPr>
          <a:xfrm>
            <a:off x="4927798" y="3333750"/>
            <a:ext cx="2781654" cy="44450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9C6D2"/>
                </a:solidFill>
                <a:latin typeface="IBM Plex Sans" pitchFamily="34" charset="0"/>
                <a:ea typeface="IBM Plex Sans" pitchFamily="34" charset="-122"/>
                <a:cs typeface="IBM Plex Sans" pitchFamily="34" charset="-120"/>
              </a:rPr>
              <a:t>First-scan pass rate, scans needed to pass</a:t>
            </a:r>
            <a:endParaRPr lang="en-US" sz="1200" dirty="0"/>
          </a:p>
        </p:txBody>
      </p:sp>
      <p:sp>
        <p:nvSpPr>
          <p:cNvPr id="12" name="Shape 8"/>
          <p:cNvSpPr/>
          <p:nvPr/>
        </p:nvSpPr>
        <p:spPr>
          <a:xfrm>
            <a:off x="7958634" y="2863850"/>
            <a:ext cx="3420467" cy="1066800"/>
          </a:xfrm>
          <a:prstGeom prst="roundRect">
            <a:avLst>
              <a:gd name="adj" fmla="val 9524"/>
            </a:avLst>
          </a:prstGeom>
          <a:solidFill>
            <a:srgbClr val="1E3246"/>
          </a:solidFill>
          <a:ln/>
        </p:spPr>
      </p:sp>
      <p:pic>
        <p:nvPicPr>
          <p:cNvPr id="13" name="Image 2" descr="Warning">    </p:cNvPr>
          <p:cNvPicPr>
            <a:picLocks noChangeAspect="1"/>
          </p:cNvPicPr>
          <p:nvPr/>
        </p:nvPicPr>
        <p:blipFill>
          <a:blip r:embed="rId3"/>
          <a:srcRect l="0" r="0" t="0" b="0"/>
          <a:stretch/>
        </p:blipFill>
        <p:spPr>
          <a:xfrm>
            <a:off x="8136434" y="3041650"/>
            <a:ext cx="254000" cy="254000"/>
          </a:xfrm>
          <a:prstGeom prst="rect">
            <a:avLst/>
          </a:prstGeom>
        </p:spPr>
      </p:pic>
      <p:sp>
        <p:nvSpPr>
          <p:cNvPr id="14" name="Text 9"/>
          <p:cNvSpPr/>
          <p:nvPr/>
        </p:nvSpPr>
        <p:spPr>
          <a:xfrm>
            <a:off x="8517434" y="3041650"/>
            <a:ext cx="2861667" cy="26670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4F2EC"/>
                </a:solidFill>
                <a:latin typeface="IBM Plex Sans" pitchFamily="34" charset="0"/>
                <a:ea typeface="IBM Plex Sans" pitchFamily="34" charset="-122"/>
                <a:cs typeface="IBM Plex Sans" pitchFamily="34" charset="-120"/>
              </a:rPr>
              <a:t>Which rules do we break?</a:t>
            </a:r>
            <a:endParaRPr lang="en-US" sz="1600" dirty="0"/>
          </a:p>
        </p:txBody>
      </p:sp>
      <p:sp>
        <p:nvSpPr>
          <p:cNvPr id="15" name="Text 10"/>
          <p:cNvSpPr/>
          <p:nvPr/>
        </p:nvSpPr>
        <p:spPr>
          <a:xfrm>
            <a:off x="8517434" y="3333750"/>
            <a:ext cx="2486514" cy="23495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9C6D2"/>
                </a:solidFill>
                <a:latin typeface="IBM Plex Sans" pitchFamily="34" charset="0"/>
                <a:ea typeface="IBM Plex Sans" pitchFamily="34" charset="-122"/>
                <a:cs typeface="IBM Plex Sans" pitchFamily="34" charset="-120"/>
              </a:rPr>
              <a:t>Top rules, each linked to its article</a:t>
            </a:r>
            <a:endParaRPr lang="en-US" sz="1200" dirty="0"/>
          </a:p>
        </p:txBody>
      </p:sp>
      <p:sp>
        <p:nvSpPr>
          <p:cNvPr id="16" name="Shape 11"/>
          <p:cNvSpPr/>
          <p:nvPr/>
        </p:nvSpPr>
        <p:spPr>
          <a:xfrm>
            <a:off x="812800" y="4083050"/>
            <a:ext cx="3420467" cy="1066800"/>
          </a:xfrm>
          <a:prstGeom prst="roundRect">
            <a:avLst>
              <a:gd name="adj" fmla="val 9524"/>
            </a:avLst>
          </a:prstGeom>
          <a:solidFill>
            <a:srgbClr val="1E3246"/>
          </a:solidFill>
          <a:ln/>
        </p:spPr>
      </p:sp>
      <p:pic>
        <p:nvPicPr>
          <p:cNvPr id="17" name="Image 3" descr="Users">    </p:cNvPr>
          <p:cNvPicPr>
            <a:picLocks noChangeAspect="1"/>
          </p:cNvPicPr>
          <p:nvPr/>
        </p:nvPicPr>
        <p:blipFill>
          <a:blip r:embed="rId4"/>
          <a:srcRect l="-597" r="-597" t="0" b="0"/>
          <a:stretch/>
        </p:blipFill>
        <p:spPr>
          <a:xfrm>
            <a:off x="990600" y="4260850"/>
            <a:ext cx="218480" cy="254000"/>
          </a:xfrm>
          <a:prstGeom prst="rect">
            <a:avLst/>
          </a:prstGeom>
        </p:spPr>
      </p:pic>
      <p:sp>
        <p:nvSpPr>
          <p:cNvPr id="18" name="Text 12"/>
          <p:cNvSpPr/>
          <p:nvPr/>
        </p:nvSpPr>
        <p:spPr>
          <a:xfrm>
            <a:off x="1336080" y="4260850"/>
            <a:ext cx="2800969" cy="26670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4F2EC"/>
                </a:solidFill>
                <a:latin typeface="IBM Plex Sans" pitchFamily="34" charset="0"/>
                <a:ea typeface="IBM Plex Sans" pitchFamily="34" charset="-122"/>
                <a:cs typeface="IBM Plex Sans" pitchFamily="34" charset="-120"/>
              </a:rPr>
              <a:t>Where to coach?</a:t>
            </a:r>
            <a:endParaRPr lang="en-US" sz="1600" dirty="0"/>
          </a:p>
        </p:txBody>
      </p:sp>
      <p:sp>
        <p:nvSpPr>
          <p:cNvPr id="19" name="Text 13"/>
          <p:cNvSpPr/>
          <p:nvPr/>
        </p:nvSpPr>
        <p:spPr>
          <a:xfrm>
            <a:off x="1336080" y="4552950"/>
            <a:ext cx="2800969" cy="44450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9C6D2"/>
                </a:solidFill>
                <a:latin typeface="IBM Plex Sans" pitchFamily="34" charset="0"/>
                <a:ea typeface="IBM Plex Sans" pitchFamily="34" charset="-122"/>
                <a:cs typeface="IBM Plex Sans" pitchFamily="34" charset="-120"/>
              </a:rPr>
              <a:t>Scans, blocks and open findings per developer</a:t>
            </a:r>
            <a:endParaRPr lang="en-US" sz="1200" dirty="0"/>
          </a:p>
        </p:txBody>
      </p:sp>
      <p:sp>
        <p:nvSpPr>
          <p:cNvPr id="20" name="Shape 14"/>
          <p:cNvSpPr/>
          <p:nvPr/>
        </p:nvSpPr>
        <p:spPr>
          <a:xfrm>
            <a:off x="4385667" y="4083050"/>
            <a:ext cx="3420566" cy="1066800"/>
          </a:xfrm>
          <a:prstGeom prst="roundRect">
            <a:avLst>
              <a:gd name="adj" fmla="val 9524"/>
            </a:avLst>
          </a:prstGeom>
          <a:solidFill>
            <a:srgbClr val="1E3246"/>
          </a:solidFill>
          <a:ln/>
        </p:spPr>
      </p:sp>
      <p:pic>
        <p:nvPicPr>
          <p:cNvPr id="21" name="Image 4" descr="Clock">    </p:cNvPr>
          <p:cNvPicPr>
            <a:picLocks noChangeAspect="1"/>
          </p:cNvPicPr>
          <p:nvPr/>
        </p:nvPicPr>
        <p:blipFill>
          <a:blip r:embed="rId5"/>
          <a:srcRect l="0" r="0" t="-47" b="-47"/>
          <a:stretch/>
        </p:blipFill>
        <p:spPr>
          <a:xfrm>
            <a:off x="4563467" y="4260850"/>
            <a:ext cx="209352" cy="254000"/>
          </a:xfrm>
          <a:prstGeom prst="rect">
            <a:avLst/>
          </a:prstGeom>
        </p:spPr>
      </p:pic>
      <p:sp>
        <p:nvSpPr>
          <p:cNvPr id="22" name="Text 15"/>
          <p:cNvSpPr/>
          <p:nvPr/>
        </p:nvSpPr>
        <p:spPr>
          <a:xfrm>
            <a:off x="4899819" y="4260850"/>
            <a:ext cx="2810473" cy="26670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4F2EC"/>
                </a:solidFill>
                <a:latin typeface="IBM Plex Sans" pitchFamily="34" charset="0"/>
                <a:ea typeface="IBM Plex Sans" pitchFamily="34" charset="-122"/>
                <a:cs typeface="IBM Plex Sans" pitchFamily="34" charset="-120"/>
              </a:rPr>
              <a:t>What is waiting?</a:t>
            </a:r>
            <a:endParaRPr lang="en-US" sz="1600" dirty="0"/>
          </a:p>
        </p:txBody>
      </p:sp>
      <p:sp>
        <p:nvSpPr>
          <p:cNvPr id="23" name="Text 16"/>
          <p:cNvSpPr/>
          <p:nvPr/>
        </p:nvSpPr>
        <p:spPr>
          <a:xfrm>
            <a:off x="4899819" y="4552950"/>
            <a:ext cx="2810473" cy="44450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9C6D2"/>
                </a:solidFill>
                <a:latin typeface="IBM Plex Sans" pitchFamily="34" charset="0"/>
                <a:ea typeface="IBM Plex Sans" pitchFamily="34" charset="-122"/>
                <a:cs typeface="IBM Plex Sans" pitchFamily="34" charset="-120"/>
              </a:rPr>
              <a:t>Peer reviews and exception requests, oldest first</a:t>
            </a:r>
            <a:endParaRPr lang="en-US" sz="1200" dirty="0"/>
          </a:p>
        </p:txBody>
      </p:sp>
      <p:sp>
        <p:nvSpPr>
          <p:cNvPr id="24" name="Shape 17"/>
          <p:cNvSpPr/>
          <p:nvPr/>
        </p:nvSpPr>
        <p:spPr>
          <a:xfrm>
            <a:off x="7958634" y="4083050"/>
            <a:ext cx="3420467" cy="1066800"/>
          </a:xfrm>
          <a:prstGeom prst="roundRect">
            <a:avLst>
              <a:gd name="adj" fmla="val 9524"/>
            </a:avLst>
          </a:prstGeom>
          <a:solidFill>
            <a:srgbClr val="1E3246"/>
          </a:solidFill>
          <a:ln/>
        </p:spPr>
      </p:sp>
      <p:pic>
        <p:nvPicPr>
          <p:cNvPr id="25" name="Image 5" descr="Lock">    </p:cNvPr>
          <p:cNvPicPr>
            <a:picLocks noChangeAspect="1"/>
          </p:cNvPicPr>
          <p:nvPr/>
        </p:nvPicPr>
        <p:blipFill>
          <a:blip r:embed="rId6"/>
          <a:srcRect l="0" r="0" t="-769" b="-769"/>
          <a:stretch/>
        </p:blipFill>
        <p:spPr>
          <a:xfrm>
            <a:off x="8136434" y="4260850"/>
            <a:ext cx="206375" cy="254000"/>
          </a:xfrm>
          <a:prstGeom prst="rect">
            <a:avLst/>
          </a:prstGeom>
        </p:spPr>
      </p:pic>
      <p:sp>
        <p:nvSpPr>
          <p:cNvPr id="26" name="Text 18"/>
          <p:cNvSpPr/>
          <p:nvPr/>
        </p:nvSpPr>
        <p:spPr>
          <a:xfrm>
            <a:off x="8469809" y="4260850"/>
            <a:ext cx="2813437" cy="26670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4F2EC"/>
                </a:solidFill>
                <a:latin typeface="IBM Plex Sans" pitchFamily="34" charset="0"/>
                <a:ea typeface="IBM Plex Sans" pitchFamily="34" charset="-122"/>
                <a:cs typeface="IBM Plex Sans" pitchFamily="34" charset="-120"/>
              </a:rPr>
              <a:t>Protected changes?</a:t>
            </a:r>
            <a:endParaRPr lang="en-US" sz="1600" dirty="0"/>
          </a:p>
        </p:txBody>
      </p:sp>
      <p:sp>
        <p:nvSpPr>
          <p:cNvPr id="27" name="Text 19"/>
          <p:cNvSpPr/>
          <p:nvPr/>
        </p:nvSpPr>
        <p:spPr>
          <a:xfrm>
            <a:off x="8469809" y="4552950"/>
            <a:ext cx="2813437" cy="44450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9C6D2"/>
                </a:solidFill>
                <a:latin typeface="IBM Plex Sans" pitchFamily="34" charset="0"/>
                <a:ea typeface="IBM Plex Sans" pitchFamily="34" charset="-122"/>
                <a:cs typeface="IBM Plex Sans" pitchFamily="34" charset="-120"/>
              </a:rPr>
              <a:t>Update sets that touched a protected component</a:t>
            </a:r>
            <a:endParaRPr lang="en-US" sz="1200" dirty="0"/>
          </a:p>
        </p:txBody>
      </p:sp>
      <p:sp>
        <p:nvSpPr>
          <p:cNvPr id="28" name="Text 20"/>
          <p:cNvSpPr/>
          <p:nvPr/>
        </p:nvSpPr>
        <p:spPr>
          <a:xfrm>
            <a:off x="812800" y="5835650"/>
            <a:ext cx="10883392" cy="23495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FA1B3"/>
                </a:solidFill>
                <a:latin typeface="IBM Plex Sans" pitchFamily="34" charset="0"/>
                <a:ea typeface="IBM Plex Sans" pitchFamily="34" charset="-122"/>
                <a:cs typeface="IBM Plex Sans" pitchFamily="34" charset="-120"/>
              </a:rPr>
              <a:t>Enterprise Coding Standard › Dashboard · 7 days to 1 year · admins and the u_ecs_dashboard_user role</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2202E"/>
        </a:solidFill>
      </p:bgPr>
    </p:bg>
    <p:spTree>
      <p:nvGrpSpPr>
        <p:cNvPr id="1" name=""/>
        <p:cNvGrpSpPr/>
        <p:nvPr/>
      </p:nvGrpSpPr>
      <p:grpSpPr>
        <a:xfrm>
          <a:off x="0" y="0"/>
          <a:ext cx="0" cy="0"/>
          <a:chOff x="0" y="0"/>
          <a:chExt cx="0" cy="0"/>
        </a:xfrm>
      </p:grpSpPr>
      <p:sp>
        <p:nvSpPr>
          <p:cNvPr id="2" name="Text 0"/>
          <p:cNvSpPr/>
          <p:nvPr/>
        </p:nvSpPr>
        <p:spPr>
          <a:xfrm>
            <a:off x="812800" y="812800"/>
            <a:ext cx="10883392" cy="23495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E8833A"/>
                </a:solidFill>
                <a:latin typeface="JetBrains Mono" pitchFamily="49" charset="0"/>
                <a:ea typeface="JetBrains Mono" pitchFamily="49" charset="-122"/>
                <a:cs typeface="JetBrains Mono" pitchFamily="49" charset="-120"/>
              </a:rPr>
              <a:t>HOW WE KNOW IT’S RIGHT</a:t>
            </a:r>
            <a:endParaRPr lang="en-US" sz="1200" dirty="0"/>
          </a:p>
        </p:txBody>
      </p:sp>
      <p:sp>
        <p:nvSpPr>
          <p:cNvPr id="3" name="Text 1"/>
          <p:cNvSpPr/>
          <p:nvPr>
            <p:ph type="title"/>
          </p:nvPr>
        </p:nvSpPr>
        <p:spPr>
          <a:xfrm>
            <a:off x="812800" y="1174750"/>
            <a:ext cx="10883392" cy="52705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F4F2EC"/>
                </a:solidFill>
                <a:latin typeface="IBM Plex Sans" pitchFamily="34" charset="0"/>
                <a:ea typeface="IBM Plex Sans" pitchFamily="34" charset="-122"/>
                <a:cs typeface="IBM Plex Sans" pitchFamily="34" charset="-120"/>
              </a:rPr>
              <a:t>Tested locally, then proven on a real instance</a:t>
            </a:r>
            <a:endParaRPr lang="en-US" sz="3600" dirty="0"/>
          </a:p>
        </p:txBody>
      </p:sp>
      <p:sp>
        <p:nvSpPr>
          <p:cNvPr id="4" name="Shape 2"/>
          <p:cNvSpPr/>
          <p:nvPr/>
        </p:nvSpPr>
        <p:spPr>
          <a:xfrm>
            <a:off x="812800" y="2803525"/>
            <a:ext cx="3251200" cy="0"/>
          </a:xfrm>
          <a:prstGeom prst="line">
            <a:avLst/>
          </a:prstGeom>
          <a:noFill/>
          <a:ln w="25400">
            <a:solidFill>
              <a:srgbClr val="E8833A"/>
            </a:solidFill>
            <a:prstDash val="solid"/>
          </a:ln>
        </p:spPr>
      </p:sp>
      <p:sp>
        <p:nvSpPr>
          <p:cNvPr id="5" name="Text 3"/>
          <p:cNvSpPr/>
          <p:nvPr/>
        </p:nvSpPr>
        <p:spPr>
          <a:xfrm>
            <a:off x="812800" y="3019425"/>
            <a:ext cx="3348736" cy="787400"/>
          </a:xfrm>
          <a:prstGeom prst="rect">
            <a:avLst/>
          </a:prstGeom>
          <a:noFill/>
          <a:ln/>
        </p:spPr>
        <p:txBody>
          <a:bodyPr wrap="square" lIns="0" tIns="0" rIns="0" bIns="0" rtlCol="0" anchor="t">
            <a:normAutofit/>
          </a:bodyPr>
          <a:lstStyle/>
          <a:p>
            <a:pPr algn="l" indent="0" marL="0">
              <a:lnSpc>
                <a:spcPts val="6000"/>
              </a:lnSpc>
              <a:buNone/>
            </a:pPr>
            <a:r>
              <a:rPr lang="en-US" sz="6000" b="1" dirty="0">
                <a:solidFill>
                  <a:srgbClr val="F4F2EC"/>
                </a:solidFill>
                <a:latin typeface="IBM Plex Sans" pitchFamily="34" charset="0"/>
                <a:ea typeface="IBM Plex Sans" pitchFamily="34" charset="-122"/>
                <a:cs typeface="IBM Plex Sans" pitchFamily="34" charset="-120"/>
              </a:rPr>
              <a:t>1,761</a:t>
            </a:r>
            <a:endParaRPr lang="en-US" sz="6000" dirty="0"/>
          </a:p>
        </p:txBody>
      </p:sp>
      <p:sp>
        <p:nvSpPr>
          <p:cNvPr id="6" name="Text 4"/>
          <p:cNvSpPr/>
          <p:nvPr/>
        </p:nvSpPr>
        <p:spPr>
          <a:xfrm>
            <a:off x="812800" y="3883025"/>
            <a:ext cx="3348736" cy="86360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B9C6D2"/>
                </a:solidFill>
                <a:latin typeface="IBM Plex Sans" pitchFamily="34" charset="0"/>
                <a:ea typeface="IBM Plex Sans" pitchFamily="34" charset="-122"/>
                <a:cs typeface="IBM Plex Sans" pitchFamily="34" charset="-120"/>
              </a:rPr>
              <a:t>of 1,761 expected findings matched in the latest validation scans</a:t>
            </a:r>
            <a:endParaRPr lang="en-US" sz="1600" dirty="0"/>
          </a:p>
        </p:txBody>
      </p:sp>
      <p:sp>
        <p:nvSpPr>
          <p:cNvPr id="7" name="Shape 5"/>
          <p:cNvSpPr/>
          <p:nvPr/>
        </p:nvSpPr>
        <p:spPr>
          <a:xfrm>
            <a:off x="4470400" y="2803525"/>
            <a:ext cx="3251200" cy="0"/>
          </a:xfrm>
          <a:prstGeom prst="line">
            <a:avLst/>
          </a:prstGeom>
          <a:noFill/>
          <a:ln w="25400">
            <a:solidFill>
              <a:srgbClr val="8CC0F0"/>
            </a:solidFill>
            <a:prstDash val="solid"/>
          </a:ln>
        </p:spPr>
      </p:sp>
      <p:sp>
        <p:nvSpPr>
          <p:cNvPr id="8" name="Text 6"/>
          <p:cNvSpPr/>
          <p:nvPr/>
        </p:nvSpPr>
        <p:spPr>
          <a:xfrm>
            <a:off x="4470400" y="3019425"/>
            <a:ext cx="3348736" cy="787400"/>
          </a:xfrm>
          <a:prstGeom prst="rect">
            <a:avLst/>
          </a:prstGeom>
          <a:noFill/>
          <a:ln/>
        </p:spPr>
        <p:txBody>
          <a:bodyPr wrap="square" lIns="0" tIns="0" rIns="0" bIns="0" rtlCol="0" anchor="t">
            <a:normAutofit/>
          </a:bodyPr>
          <a:lstStyle/>
          <a:p>
            <a:pPr algn="l" indent="0" marL="0">
              <a:lnSpc>
                <a:spcPts val="6000"/>
              </a:lnSpc>
              <a:buNone/>
            </a:pPr>
            <a:r>
              <a:rPr lang="en-US" sz="6000" b="1" dirty="0">
                <a:solidFill>
                  <a:srgbClr val="F4F2EC"/>
                </a:solidFill>
                <a:latin typeface="IBM Plex Sans" pitchFamily="34" charset="0"/>
                <a:ea typeface="IBM Plex Sans" pitchFamily="34" charset="-122"/>
                <a:cs typeface="IBM Plex Sans" pitchFamily="34" charset="-120"/>
              </a:rPr>
              <a:t>2,294</a:t>
            </a:r>
            <a:endParaRPr lang="en-US" sz="6000" dirty="0"/>
          </a:p>
        </p:txBody>
      </p:sp>
      <p:sp>
        <p:nvSpPr>
          <p:cNvPr id="9" name="Text 7"/>
          <p:cNvSpPr/>
          <p:nvPr/>
        </p:nvSpPr>
        <p:spPr>
          <a:xfrm>
            <a:off x="4470400" y="3883025"/>
            <a:ext cx="3348736" cy="86360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B9C6D2"/>
                </a:solidFill>
                <a:latin typeface="IBM Plex Sans" pitchFamily="34" charset="0"/>
                <a:ea typeface="IBM Plex Sans" pitchFamily="34" charset="-122"/>
                <a:cs typeface="IBM Plex Sans" pitchFamily="34" charset="-120"/>
              </a:rPr>
              <a:t>automated tests, including a parser checked against real platform output</a:t>
            </a:r>
            <a:endParaRPr lang="en-US" sz="1600" dirty="0"/>
          </a:p>
        </p:txBody>
      </p:sp>
      <p:sp>
        <p:nvSpPr>
          <p:cNvPr id="10" name="Shape 8"/>
          <p:cNvSpPr/>
          <p:nvPr/>
        </p:nvSpPr>
        <p:spPr>
          <a:xfrm>
            <a:off x="8128000" y="2803525"/>
            <a:ext cx="3251200" cy="0"/>
          </a:xfrm>
          <a:prstGeom prst="line">
            <a:avLst/>
          </a:prstGeom>
          <a:noFill/>
          <a:ln w="25400">
            <a:solidFill>
              <a:srgbClr val="F4F2EC"/>
            </a:solidFill>
            <a:prstDash val="solid"/>
          </a:ln>
        </p:spPr>
      </p:sp>
      <p:sp>
        <p:nvSpPr>
          <p:cNvPr id="11" name="Text 9"/>
          <p:cNvSpPr/>
          <p:nvPr/>
        </p:nvSpPr>
        <p:spPr>
          <a:xfrm>
            <a:off x="8128000" y="3019425"/>
            <a:ext cx="3348736" cy="787400"/>
          </a:xfrm>
          <a:prstGeom prst="rect">
            <a:avLst/>
          </a:prstGeom>
          <a:noFill/>
          <a:ln/>
        </p:spPr>
        <p:txBody>
          <a:bodyPr wrap="square" lIns="0" tIns="0" rIns="0" bIns="0" rtlCol="0" anchor="t">
            <a:normAutofit/>
          </a:bodyPr>
          <a:lstStyle/>
          <a:p>
            <a:pPr algn="l" indent="0" marL="0">
              <a:lnSpc>
                <a:spcPts val="6000"/>
              </a:lnSpc>
              <a:buNone/>
            </a:pPr>
            <a:r>
              <a:rPr lang="en-US" sz="6000" b="1" dirty="0">
                <a:solidFill>
                  <a:srgbClr val="F4F2EC"/>
                </a:solidFill>
                <a:latin typeface="IBM Plex Sans" pitchFamily="34" charset="0"/>
                <a:ea typeface="IBM Plex Sans" pitchFamily="34" charset="-122"/>
                <a:cs typeface="IBM Plex Sans" pitchFamily="34" charset="-120"/>
              </a:rPr>
              <a:t>40/40</a:t>
            </a:r>
            <a:endParaRPr lang="en-US" sz="6000" dirty="0"/>
          </a:p>
        </p:txBody>
      </p:sp>
      <p:sp>
        <p:nvSpPr>
          <p:cNvPr id="12" name="Text 10"/>
          <p:cNvSpPr/>
          <p:nvPr/>
        </p:nvSpPr>
        <p:spPr>
          <a:xfrm>
            <a:off x="8128000" y="3883025"/>
            <a:ext cx="3348736" cy="58420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B9C6D2"/>
                </a:solidFill>
                <a:latin typeface="IBM Plex Sans" pitchFamily="34" charset="0"/>
                <a:ea typeface="IBM Plex Sans" pitchFamily="34" charset="-122"/>
                <a:cs typeface="IBM Plex Sans" pitchFamily="34" charset="-120"/>
              </a:rPr>
              <a:t>checks validated on Zurich with fixture update sets</a:t>
            </a:r>
            <a:endParaRPr lang="en-US" sz="1600" dirty="0"/>
          </a:p>
        </p:txBody>
      </p:sp>
      <p:sp>
        <p:nvSpPr>
          <p:cNvPr id="13" name="Text 11"/>
          <p:cNvSpPr/>
          <p:nvPr/>
        </p:nvSpPr>
        <p:spPr>
          <a:xfrm>
            <a:off x="812800" y="5835650"/>
            <a:ext cx="10883392" cy="23495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FA1B3"/>
                </a:solidFill>
                <a:latin typeface="IBM Plex Sans" pitchFamily="34" charset="0"/>
                <a:ea typeface="IBM Plex Sans" pitchFamily="34" charset="-122"/>
                <a:cs typeface="IBM Plex Sans" pitchFamily="34" charset="-120"/>
              </a:rPr>
              <a:t>Fixtures cover both sides: code that must be flagged, and code that must not be.</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4F2EC"/>
        </a:solidFill>
      </p:bgPr>
    </p:bg>
    <p:spTree>
      <p:nvGrpSpPr>
        <p:cNvPr id="1" name=""/>
        <p:cNvGrpSpPr/>
        <p:nvPr/>
      </p:nvGrpSpPr>
      <p:grpSpPr>
        <a:xfrm>
          <a:off x="0" y="0"/>
          <a:ext cx="0" cy="0"/>
          <a:chOff x="0" y="0"/>
          <a:chExt cx="0" cy="0"/>
        </a:xfrm>
      </p:grpSpPr>
      <p:sp>
        <p:nvSpPr>
          <p:cNvPr id="2" name="Text 0"/>
          <p:cNvSpPr/>
          <p:nvPr/>
        </p:nvSpPr>
        <p:spPr>
          <a:xfrm>
            <a:off x="812800" y="812800"/>
            <a:ext cx="10883392" cy="23495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B4561A"/>
                </a:solidFill>
                <a:latin typeface="JetBrains Mono" pitchFamily="49" charset="0"/>
                <a:ea typeface="JetBrains Mono" pitchFamily="49" charset="-122"/>
                <a:cs typeface="JetBrains Mono" pitchFamily="49" charset="-120"/>
              </a:rPr>
              <a:t>FEW FALSE ALARMS</a:t>
            </a:r>
            <a:endParaRPr lang="en-US" sz="1200" dirty="0"/>
          </a:p>
        </p:txBody>
      </p:sp>
      <p:sp>
        <p:nvSpPr>
          <p:cNvPr id="3" name="Text 1"/>
          <p:cNvSpPr/>
          <p:nvPr>
            <p:ph type="title"/>
          </p:nvPr>
        </p:nvSpPr>
        <p:spPr>
          <a:xfrm>
            <a:off x="812800" y="1174750"/>
            <a:ext cx="10883392" cy="52705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2202E"/>
                </a:solidFill>
                <a:latin typeface="IBM Plex Sans" pitchFamily="34" charset="0"/>
                <a:ea typeface="IBM Plex Sans" pitchFamily="34" charset="-122"/>
                <a:cs typeface="IBM Plex Sans" pitchFamily="34" charset="-120"/>
              </a:rPr>
              <a:t>A gate people trust is one that rarely cries wolf</a:t>
            </a:r>
            <a:endParaRPr lang="en-US" sz="3600" dirty="0"/>
          </a:p>
        </p:txBody>
      </p:sp>
      <p:sp>
        <p:nvSpPr>
          <p:cNvPr id="4" name="Shape 2"/>
          <p:cNvSpPr/>
          <p:nvPr/>
        </p:nvSpPr>
        <p:spPr>
          <a:xfrm>
            <a:off x="819150" y="3562350"/>
            <a:ext cx="5168900" cy="1130300"/>
          </a:xfrm>
          <a:prstGeom prst="roundRect">
            <a:avLst>
              <a:gd name="adj" fmla="val 8427"/>
            </a:avLst>
          </a:prstGeom>
          <a:solidFill>
            <a:srgbClr val="FFFDF8"/>
          </a:solidFill>
          <a:ln w="12700">
            <a:solidFill>
              <a:srgbClr val="D5D2C8"/>
            </a:solidFill>
            <a:prstDash val="solid"/>
          </a:ln>
        </p:spPr>
      </p:sp>
      <p:pic>
        <p:nvPicPr>
          <p:cNvPr id="5" name="Image 0" descr="Search">    </p:cNvPr>
          <p:cNvPicPr>
            <a:picLocks noChangeAspect="1"/>
          </p:cNvPicPr>
          <p:nvPr/>
        </p:nvPicPr>
        <p:blipFill>
          <a:blip r:embed="rId1"/>
          <a:srcRect l="-69" r="-69" t="0" b="0"/>
          <a:stretch/>
        </p:blipFill>
        <p:spPr>
          <a:xfrm>
            <a:off x="1028700" y="3771900"/>
            <a:ext cx="216198" cy="304800"/>
          </a:xfrm>
          <a:prstGeom prst="rect">
            <a:avLst/>
          </a:prstGeom>
        </p:spPr>
      </p:pic>
      <p:sp>
        <p:nvSpPr>
          <p:cNvPr id="6" name="Text 3"/>
          <p:cNvSpPr/>
          <p:nvPr/>
        </p:nvSpPr>
        <p:spPr>
          <a:xfrm>
            <a:off x="1397298" y="3771900"/>
            <a:ext cx="4512638" cy="26670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2202E"/>
                </a:solidFill>
                <a:latin typeface="IBM Plex Sans" pitchFamily="34" charset="0"/>
                <a:ea typeface="IBM Plex Sans" pitchFamily="34" charset="-122"/>
                <a:cs typeface="IBM Plex Sans" pitchFamily="34" charset="-120"/>
              </a:rPr>
              <a:t>Unsure? Review, don’t block</a:t>
            </a:r>
            <a:endParaRPr lang="en-US" sz="1600" dirty="0"/>
          </a:p>
        </p:txBody>
      </p:sp>
      <p:sp>
        <p:nvSpPr>
          <p:cNvPr id="7" name="Text 4"/>
          <p:cNvSpPr/>
          <p:nvPr/>
        </p:nvSpPr>
        <p:spPr>
          <a:xfrm>
            <a:off x="1397298" y="4064000"/>
            <a:ext cx="4512638" cy="44450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525E"/>
                </a:solidFill>
                <a:latin typeface="IBM Plex Sans" pitchFamily="34" charset="0"/>
                <a:ea typeface="IBM Plex Sans" pitchFamily="34" charset="-122"/>
                <a:cs typeface="IBM Plex Sans" pitchFamily="34" charset="-120"/>
              </a:rPr>
              <a:t>When a check can’t confirm the risk, a separate -R rule sends it to the reviewer at priority 3</a:t>
            </a:r>
            <a:endParaRPr lang="en-US" sz="1200" dirty="0"/>
          </a:p>
        </p:txBody>
      </p:sp>
      <p:sp>
        <p:nvSpPr>
          <p:cNvPr id="8" name="Shape 5"/>
          <p:cNvSpPr/>
          <p:nvPr/>
        </p:nvSpPr>
        <p:spPr>
          <a:xfrm>
            <a:off x="6203950" y="3562350"/>
            <a:ext cx="5168900" cy="1130300"/>
          </a:xfrm>
          <a:prstGeom prst="roundRect">
            <a:avLst>
              <a:gd name="adj" fmla="val 8427"/>
            </a:avLst>
          </a:prstGeom>
          <a:solidFill>
            <a:srgbClr val="FFFDF8"/>
          </a:solidFill>
          <a:ln w="12700">
            <a:solidFill>
              <a:srgbClr val="D5D2C8"/>
            </a:solidFill>
            <a:prstDash val="solid"/>
          </a:ln>
        </p:spPr>
      </p:sp>
      <p:pic>
        <p:nvPicPr>
          <p:cNvPr id="9" name="Image 1" descr="Code">    </p:cNvPr>
          <p:cNvPicPr>
            <a:picLocks noChangeAspect="1"/>
          </p:cNvPicPr>
          <p:nvPr/>
        </p:nvPicPr>
        <p:blipFill>
          <a:blip r:embed="rId2"/>
          <a:srcRect l="-206" r="-206" t="0" b="0"/>
          <a:stretch/>
        </p:blipFill>
        <p:spPr>
          <a:xfrm>
            <a:off x="6413500" y="3771900"/>
            <a:ext cx="242292" cy="304800"/>
          </a:xfrm>
          <a:prstGeom prst="rect">
            <a:avLst/>
          </a:prstGeom>
        </p:spPr>
      </p:pic>
      <p:sp>
        <p:nvSpPr>
          <p:cNvPr id="10" name="Text 6"/>
          <p:cNvSpPr/>
          <p:nvPr/>
        </p:nvSpPr>
        <p:spPr>
          <a:xfrm>
            <a:off x="6808192" y="3771900"/>
            <a:ext cx="4485761" cy="26670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2202E"/>
                </a:solidFill>
                <a:latin typeface="IBM Plex Sans" pitchFamily="34" charset="0"/>
                <a:ea typeface="IBM Plex Sans" pitchFamily="34" charset="-122"/>
                <a:cs typeface="IBM Plex Sans" pitchFamily="34" charset="-120"/>
              </a:rPr>
              <a:t>Reads code, not text</a:t>
            </a:r>
            <a:endParaRPr lang="en-US" sz="1600" dirty="0"/>
          </a:p>
        </p:txBody>
      </p:sp>
      <p:sp>
        <p:nvSpPr>
          <p:cNvPr id="11" name="Text 7"/>
          <p:cNvSpPr/>
          <p:nvPr/>
        </p:nvSpPr>
        <p:spPr>
          <a:xfrm>
            <a:off x="6808192" y="4064000"/>
            <a:ext cx="4485761" cy="44450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525E"/>
                </a:solidFill>
                <a:latin typeface="IBM Plex Sans" pitchFamily="34" charset="0"/>
                <a:ea typeface="IBM Plex Sans" pitchFamily="34" charset="-122"/>
                <a:cs typeface="IBM Plex Sans" pitchFamily="34" charset="-120"/>
              </a:rPr>
              <a:t>Checks parse the script, so comments and strings that look like code are ignored</a:t>
            </a:r>
            <a:endParaRPr lang="en-US" sz="1200" dirty="0"/>
          </a:p>
        </p:txBody>
      </p:sp>
      <p:sp>
        <p:nvSpPr>
          <p:cNvPr id="12" name="Shape 8"/>
          <p:cNvSpPr/>
          <p:nvPr/>
        </p:nvSpPr>
        <p:spPr>
          <a:xfrm>
            <a:off x="819150" y="4908550"/>
            <a:ext cx="5168900" cy="1130300"/>
          </a:xfrm>
          <a:prstGeom prst="roundRect">
            <a:avLst>
              <a:gd name="adj" fmla="val 8427"/>
            </a:avLst>
          </a:prstGeom>
          <a:solidFill>
            <a:srgbClr val="FFFDF8"/>
          </a:solidFill>
          <a:ln w="12700">
            <a:solidFill>
              <a:srgbClr val="D5D2C8"/>
            </a:solidFill>
            <a:prstDash val="solid"/>
          </a:ln>
        </p:spPr>
      </p:sp>
      <p:pic>
        <p:nvPicPr>
          <p:cNvPr id="13" name="Image 2" descr="Users">    </p:cNvPr>
          <p:cNvPicPr>
            <a:picLocks noChangeAspect="1"/>
          </p:cNvPicPr>
          <p:nvPr/>
        </p:nvPicPr>
        <p:blipFill>
          <a:blip r:embed="rId3"/>
          <a:srcRect l="-373" r="-373" t="0" b="0"/>
          <a:stretch/>
        </p:blipFill>
        <p:spPr>
          <a:xfrm>
            <a:off x="1028700" y="5118100"/>
            <a:ext cx="281484" cy="304800"/>
          </a:xfrm>
          <a:prstGeom prst="rect">
            <a:avLst/>
          </a:prstGeom>
        </p:spPr>
      </p:pic>
      <p:sp>
        <p:nvSpPr>
          <p:cNvPr id="14" name="Text 9"/>
          <p:cNvSpPr/>
          <p:nvPr/>
        </p:nvSpPr>
        <p:spPr>
          <a:xfrm>
            <a:off x="1462584" y="5118100"/>
            <a:ext cx="4445394" cy="26670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2202E"/>
                </a:solidFill>
                <a:latin typeface="IBM Plex Sans" pitchFamily="34" charset="0"/>
                <a:ea typeface="IBM Plex Sans" pitchFamily="34" charset="-122"/>
                <a:cs typeface="IBM Plex Sans" pitchFamily="34" charset="-120"/>
              </a:rPr>
              <a:t>Owners are exempt</a:t>
            </a:r>
            <a:endParaRPr lang="en-US" sz="1600" dirty="0"/>
          </a:p>
        </p:txBody>
      </p:sp>
      <p:sp>
        <p:nvSpPr>
          <p:cNvPr id="15" name="Text 10"/>
          <p:cNvSpPr/>
          <p:nvPr/>
        </p:nvSpPr>
        <p:spPr>
          <a:xfrm>
            <a:off x="1462584" y="5410200"/>
            <a:ext cx="4445394" cy="44450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525E"/>
                </a:solidFill>
                <a:latin typeface="IBM Plex Sans" pitchFamily="34" charset="0"/>
                <a:ea typeface="IBM Plex Sans" pitchFamily="34" charset="-122"/>
                <a:cs typeface="IBM Plex Sans" pitchFamily="34" charset="-120"/>
              </a:rPr>
              <a:t>Owner-group members can change their own protected components</a:t>
            </a:r>
            <a:endParaRPr lang="en-US" sz="1200" dirty="0"/>
          </a:p>
        </p:txBody>
      </p:sp>
      <p:sp>
        <p:nvSpPr>
          <p:cNvPr id="16" name="Shape 11"/>
          <p:cNvSpPr/>
          <p:nvPr/>
        </p:nvSpPr>
        <p:spPr>
          <a:xfrm>
            <a:off x="6203950" y="4908550"/>
            <a:ext cx="5168900" cy="1130300"/>
          </a:xfrm>
          <a:prstGeom prst="roundRect">
            <a:avLst>
              <a:gd name="adj" fmla="val 8427"/>
            </a:avLst>
          </a:prstGeom>
          <a:solidFill>
            <a:srgbClr val="FFFDF8"/>
          </a:solidFill>
          <a:ln w="12700">
            <a:solidFill>
              <a:srgbClr val="D5D2C8"/>
            </a:solidFill>
            <a:prstDash val="solid"/>
          </a:ln>
        </p:spPr>
      </p:sp>
      <p:pic>
        <p:nvPicPr>
          <p:cNvPr id="17" name="Image 3" descr="CheckCircle">    </p:cNvPr>
          <p:cNvPicPr>
            <a:picLocks noChangeAspect="1"/>
          </p:cNvPicPr>
          <p:nvPr/>
        </p:nvPicPr>
        <p:blipFill>
          <a:blip r:embed="rId4"/>
          <a:srcRect l="0" r="0" t="-273" b="-273"/>
          <a:stretch/>
        </p:blipFill>
        <p:spPr>
          <a:xfrm>
            <a:off x="6413500" y="5118100"/>
            <a:ext cx="290513" cy="304800"/>
          </a:xfrm>
          <a:prstGeom prst="rect">
            <a:avLst/>
          </a:prstGeom>
        </p:spPr>
      </p:pic>
      <p:sp>
        <p:nvSpPr>
          <p:cNvPr id="18" name="Text 12"/>
          <p:cNvSpPr/>
          <p:nvPr/>
        </p:nvSpPr>
        <p:spPr>
          <a:xfrm>
            <a:off x="6856413" y="5118100"/>
            <a:ext cx="4436094" cy="26670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2202E"/>
                </a:solidFill>
                <a:latin typeface="IBM Plex Sans" pitchFamily="34" charset="0"/>
                <a:ea typeface="IBM Plex Sans" pitchFamily="34" charset="-122"/>
                <a:cs typeface="IBM Plex Sans" pitchFamily="34" charset="-120"/>
              </a:rPr>
              <a:t>Our own apps aren’t “OOB”</a:t>
            </a:r>
            <a:endParaRPr lang="en-US" sz="1600" dirty="0"/>
          </a:p>
        </p:txBody>
      </p:sp>
      <p:sp>
        <p:nvSpPr>
          <p:cNvPr id="19" name="Text 13"/>
          <p:cNvSpPr/>
          <p:nvPr/>
        </p:nvSpPr>
        <p:spPr>
          <a:xfrm>
            <a:off x="6856413" y="5410200"/>
            <a:ext cx="4436094" cy="44450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525E"/>
                </a:solidFill>
                <a:latin typeface="IBM Plex Sans" pitchFamily="34" charset="0"/>
                <a:ea typeface="IBM Plex Sans" pitchFamily="34" charset="-122"/>
                <a:cs typeface="IBM Plex Sans" pitchFamily="34" charset="-120"/>
              </a:rPr>
              <a:t>Only ServiceNow-delivered packages count as out-of-box changes</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4F2EC"/>
        </a:solidFill>
      </p:bgPr>
    </p:bg>
    <p:spTree>
      <p:nvGrpSpPr>
        <p:cNvPr id="1" name=""/>
        <p:cNvGrpSpPr/>
        <p:nvPr/>
      </p:nvGrpSpPr>
      <p:grpSpPr>
        <a:xfrm>
          <a:off x="0" y="0"/>
          <a:ext cx="0" cy="0"/>
          <a:chOff x="0" y="0"/>
          <a:chExt cx="0" cy="0"/>
        </a:xfrm>
      </p:grpSpPr>
      <p:sp>
        <p:nvSpPr>
          <p:cNvPr id="2" name="Text 0"/>
          <p:cNvSpPr/>
          <p:nvPr/>
        </p:nvSpPr>
        <p:spPr>
          <a:xfrm>
            <a:off x="812800" y="812800"/>
            <a:ext cx="10883392" cy="23495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B4561A"/>
                </a:solidFill>
                <a:latin typeface="JetBrains Mono" pitchFamily="49" charset="0"/>
                <a:ea typeface="JetBrains Mono" pitchFamily="49" charset="-122"/>
                <a:cs typeface="JetBrains Mono" pitchFamily="49" charset="-120"/>
              </a:rPr>
              <a:t>ONE STANDARD</a:t>
            </a:r>
            <a:endParaRPr lang="en-US" sz="1200" dirty="0"/>
          </a:p>
        </p:txBody>
      </p:sp>
      <p:sp>
        <p:nvSpPr>
          <p:cNvPr id="3" name="Text 1"/>
          <p:cNvSpPr/>
          <p:nvPr>
            <p:ph type="title"/>
          </p:nvPr>
        </p:nvSpPr>
        <p:spPr>
          <a:xfrm>
            <a:off x="812800" y="1174750"/>
            <a:ext cx="10883392" cy="52705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2202E"/>
                </a:solidFill>
                <a:latin typeface="IBM Plex Sans" pitchFamily="34" charset="0"/>
                <a:ea typeface="IBM Plex Sans" pitchFamily="34" charset="-122"/>
                <a:cs typeface="IBM Plex Sans" pitchFamily="34" charset="-120"/>
              </a:rPr>
              <a:t>One consistent set replaces the old checks</a:t>
            </a:r>
            <a:endParaRPr lang="en-US" sz="3600" dirty="0"/>
          </a:p>
        </p:txBody>
      </p:sp>
      <p:sp>
        <p:nvSpPr>
          <p:cNvPr id="4" name="Text 2"/>
          <p:cNvSpPr/>
          <p:nvPr/>
        </p:nvSpPr>
        <p:spPr>
          <a:xfrm>
            <a:off x="812800" y="3035300"/>
            <a:ext cx="3401060" cy="787400"/>
          </a:xfrm>
          <a:prstGeom prst="rect">
            <a:avLst/>
          </a:prstGeom>
          <a:noFill/>
          <a:ln/>
        </p:spPr>
        <p:txBody>
          <a:bodyPr wrap="square" lIns="0" tIns="0" rIns="0" bIns="0" rtlCol="0" anchor="t">
            <a:normAutofit/>
          </a:bodyPr>
          <a:lstStyle/>
          <a:p>
            <a:pPr algn="l" indent="0" marL="0">
              <a:lnSpc>
                <a:spcPts val="6000"/>
              </a:lnSpc>
              <a:buNone/>
            </a:pPr>
            <a:r>
              <a:rPr lang="en-US" sz="6000" b="1" dirty="0">
                <a:solidFill>
                  <a:srgbClr val="B4561A"/>
                </a:solidFill>
                <a:latin typeface="IBM Plex Sans" pitchFamily="34" charset="0"/>
                <a:ea typeface="IBM Plex Sans" pitchFamily="34" charset="-122"/>
                <a:cs typeface="IBM Plex Sans" pitchFamily="34" charset="-120"/>
              </a:rPr>
              <a:t>32</a:t>
            </a:r>
            <a:endParaRPr lang="en-US" sz="6000" dirty="0"/>
          </a:p>
        </p:txBody>
      </p:sp>
      <p:sp>
        <p:nvSpPr>
          <p:cNvPr id="5" name="Text 3"/>
          <p:cNvSpPr/>
          <p:nvPr/>
        </p:nvSpPr>
        <p:spPr>
          <a:xfrm>
            <a:off x="812800" y="3848100"/>
            <a:ext cx="3401060" cy="58420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6525E"/>
                </a:solidFill>
                <a:latin typeface="IBM Plex Sans" pitchFamily="34" charset="0"/>
                <a:ea typeface="IBM Plex Sans" pitchFamily="34" charset="-122"/>
                <a:cs typeface="IBM Plex Sans" pitchFamily="34" charset="-120"/>
              </a:rPr>
              <a:t>legacy NS: and Y1- checks retired, deactivated rather than deleted</a:t>
            </a:r>
            <a:endParaRPr lang="en-US" sz="1600" dirty="0"/>
          </a:p>
        </p:txBody>
      </p:sp>
      <p:sp>
        <p:nvSpPr>
          <p:cNvPr id="6" name="Shape 4"/>
          <p:cNvSpPr/>
          <p:nvPr/>
        </p:nvSpPr>
        <p:spPr>
          <a:xfrm>
            <a:off x="4521200" y="2527300"/>
            <a:ext cx="6858000" cy="0"/>
          </a:xfrm>
          <a:prstGeom prst="line">
            <a:avLst/>
          </a:prstGeom>
          <a:noFill/>
          <a:ln w="12700">
            <a:solidFill>
              <a:srgbClr val="D5D2C8"/>
            </a:solidFill>
            <a:prstDash val="solid"/>
          </a:ln>
        </p:spPr>
      </p:sp>
      <p:sp>
        <p:nvSpPr>
          <p:cNvPr id="7" name="Text 5"/>
          <p:cNvSpPr/>
          <p:nvPr/>
        </p:nvSpPr>
        <p:spPr>
          <a:xfrm>
            <a:off x="4521200" y="2686050"/>
            <a:ext cx="7063740" cy="30480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2202E"/>
                </a:solidFill>
                <a:latin typeface="IBM Plex Sans" pitchFamily="34" charset="0"/>
                <a:ea typeface="IBM Plex Sans" pitchFamily="34" charset="-122"/>
                <a:cs typeface="IBM Plex Sans" pitchFamily="34" charset="-120"/>
              </a:rPr>
              <a:t>Fixed along the way</a:t>
            </a:r>
            <a:endParaRPr lang="en-US" sz="1600" dirty="0"/>
          </a:p>
        </p:txBody>
      </p:sp>
      <p:sp>
        <p:nvSpPr>
          <p:cNvPr id="8" name="Shape 6"/>
          <p:cNvSpPr/>
          <p:nvPr/>
        </p:nvSpPr>
        <p:spPr>
          <a:xfrm>
            <a:off x="4521200" y="3124200"/>
            <a:ext cx="6858000" cy="0"/>
          </a:xfrm>
          <a:prstGeom prst="line">
            <a:avLst/>
          </a:prstGeom>
          <a:noFill/>
          <a:ln w="12700">
            <a:solidFill>
              <a:srgbClr val="D5D2C8"/>
            </a:solidFill>
            <a:prstDash val="solid"/>
          </a:ln>
        </p:spPr>
      </p:sp>
      <p:sp>
        <p:nvSpPr>
          <p:cNvPr id="9" name="Text 7"/>
          <p:cNvSpPr/>
          <p:nvPr/>
        </p:nvSpPr>
        <p:spPr>
          <a:xfrm>
            <a:off x="4521200" y="3282950"/>
            <a:ext cx="7063740" cy="30480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6525E"/>
                </a:solidFill>
                <a:latin typeface="IBM Plex Sans" pitchFamily="34" charset="0"/>
                <a:ea typeface="IBM Plex Sans" pitchFamily="34" charset="-122"/>
                <a:cs typeface="IBM Plex Sans" pitchFamily="34" charset="-120"/>
              </a:rPr>
              <a:t>A check that crashed instead of reporting</a:t>
            </a:r>
            <a:endParaRPr lang="en-US" sz="1600" dirty="0"/>
          </a:p>
        </p:txBody>
      </p:sp>
      <p:sp>
        <p:nvSpPr>
          <p:cNvPr id="10" name="Shape 8"/>
          <p:cNvSpPr/>
          <p:nvPr/>
        </p:nvSpPr>
        <p:spPr>
          <a:xfrm>
            <a:off x="4521200" y="3721100"/>
            <a:ext cx="6858000" cy="0"/>
          </a:xfrm>
          <a:prstGeom prst="line">
            <a:avLst/>
          </a:prstGeom>
          <a:noFill/>
          <a:ln w="12700">
            <a:solidFill>
              <a:srgbClr val="D5D2C8"/>
            </a:solidFill>
            <a:prstDash val="solid"/>
          </a:ln>
        </p:spPr>
      </p:sp>
      <p:sp>
        <p:nvSpPr>
          <p:cNvPr id="11" name="Text 9"/>
          <p:cNvSpPr/>
          <p:nvPr/>
        </p:nvSpPr>
        <p:spPr>
          <a:xfrm>
            <a:off x="4521200" y="3879850"/>
            <a:ext cx="7063740" cy="30480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6525E"/>
                </a:solidFill>
                <a:latin typeface="IBM Plex Sans" pitchFamily="34" charset="0"/>
                <a:ea typeface="IBM Plex Sans" pitchFamily="34" charset="-122"/>
                <a:cs typeface="IBM Plex Sans" pitchFamily="34" charset="-120"/>
              </a:rPr>
              <a:t>Pattern matches that never matched</a:t>
            </a:r>
            <a:endParaRPr lang="en-US" sz="1600" dirty="0"/>
          </a:p>
        </p:txBody>
      </p:sp>
      <p:sp>
        <p:nvSpPr>
          <p:cNvPr id="12" name="Shape 10"/>
          <p:cNvSpPr/>
          <p:nvPr/>
        </p:nvSpPr>
        <p:spPr>
          <a:xfrm>
            <a:off x="4521200" y="4318000"/>
            <a:ext cx="6858000" cy="0"/>
          </a:xfrm>
          <a:prstGeom prst="line">
            <a:avLst/>
          </a:prstGeom>
          <a:noFill/>
          <a:ln w="12700">
            <a:solidFill>
              <a:srgbClr val="D5D2C8"/>
            </a:solidFill>
            <a:prstDash val="solid"/>
          </a:ln>
        </p:spPr>
      </p:sp>
      <p:sp>
        <p:nvSpPr>
          <p:cNvPr id="13" name="Shape 11"/>
          <p:cNvSpPr/>
          <p:nvPr/>
        </p:nvSpPr>
        <p:spPr>
          <a:xfrm>
            <a:off x="4521200" y="4914900"/>
            <a:ext cx="6858000" cy="0"/>
          </a:xfrm>
          <a:prstGeom prst="line">
            <a:avLst/>
          </a:prstGeom>
          <a:noFill/>
          <a:ln w="12700">
            <a:solidFill>
              <a:srgbClr val="D5D2C8"/>
            </a:solidFill>
            <a:prstDash val="solid"/>
          </a:ln>
        </p:spPr>
      </p:sp>
      <p:sp>
        <p:nvSpPr>
          <p:cNvPr id="14" name="Text 12"/>
          <p:cNvSpPr/>
          <p:nvPr/>
        </p:nvSpPr>
        <p:spPr>
          <a:xfrm>
            <a:off x="4521200" y="4476750"/>
            <a:ext cx="7063740" cy="30480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6525E"/>
                </a:solidFill>
                <a:latin typeface="IBM Plex Sans" pitchFamily="34" charset="0"/>
                <a:ea typeface="IBM Plex Sans" pitchFamily="34" charset="-122"/>
                <a:cs typeface="IBM Plex Sans" pitchFamily="34" charset="-120"/>
              </a:rPr>
              <a:t>An out-of-box check that flagged our own apps</a:t>
            </a:r>
            <a:endParaRPr lang="en-US" sz="1600" dirty="0"/>
          </a:p>
        </p:txBody>
      </p:sp>
      <p:sp>
        <p:nvSpPr>
          <p:cNvPr id="15" name="Text 13"/>
          <p:cNvSpPr/>
          <p:nvPr/>
        </p:nvSpPr>
        <p:spPr>
          <a:xfrm>
            <a:off x="812800" y="5765800"/>
            <a:ext cx="10883392" cy="30480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6525E"/>
                </a:solidFill>
                <a:latin typeface="IBM Plex Sans" pitchFamily="34" charset="0"/>
                <a:ea typeface="IBM Plex Sans" pitchFamily="34" charset="-122"/>
                <a:cs typeface="IBM Plex Sans" pitchFamily="34" charset="-120"/>
              </a:rPr>
              <a:t>Every old rule now has an ECS equivalent with the same naming, priorities and documentation.</a:t>
            </a:r>
            <a:endParaRPr lang="en-US" sz="16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2202E"/>
        </a:solidFill>
      </p:bgPr>
    </p:bg>
    <p:spTree>
      <p:nvGrpSpPr>
        <p:cNvPr id="1" name=""/>
        <p:cNvGrpSpPr/>
        <p:nvPr/>
      </p:nvGrpSpPr>
      <p:grpSpPr>
        <a:xfrm>
          <a:off x="0" y="0"/>
          <a:ext cx="0" cy="0"/>
          <a:chOff x="0" y="0"/>
          <a:chExt cx="0" cy="0"/>
        </a:xfrm>
      </p:grpSpPr>
      <p:sp>
        <p:nvSpPr>
          <p:cNvPr id="2" name="Text 0"/>
          <p:cNvSpPr/>
          <p:nvPr/>
        </p:nvSpPr>
        <p:spPr>
          <a:xfrm>
            <a:off x="812800" y="812800"/>
            <a:ext cx="10883392" cy="23495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E8833A"/>
                </a:solidFill>
                <a:latin typeface="JetBrains Mono" pitchFamily="49" charset="0"/>
                <a:ea typeface="JetBrains Mono" pitchFamily="49" charset="-122"/>
                <a:cs typeface="JetBrains Mono" pitchFamily="49" charset="-120"/>
              </a:rPr>
              <a:t>THE ASK</a:t>
            </a:r>
            <a:endParaRPr lang="en-US" sz="1200" dirty="0"/>
          </a:p>
        </p:txBody>
      </p:sp>
      <p:sp>
        <p:nvSpPr>
          <p:cNvPr id="3" name="Text 1"/>
          <p:cNvSpPr/>
          <p:nvPr>
            <p:ph type="title"/>
          </p:nvPr>
        </p:nvSpPr>
        <p:spPr>
          <a:xfrm>
            <a:off x="812800" y="1174750"/>
            <a:ext cx="9810750" cy="102870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F4F2EC"/>
                </a:solidFill>
                <a:latin typeface="IBM Plex Sans" pitchFamily="34" charset="0"/>
                <a:ea typeface="IBM Plex Sans" pitchFamily="34" charset="-122"/>
                <a:cs typeface="IBM Plex Sans" pitchFamily="34" charset="-120"/>
              </a:rPr>
              <a:t>[What you need from this audience, in one sentence]</a:t>
            </a:r>
            <a:endParaRPr lang="en-US" sz="3600" dirty="0"/>
          </a:p>
        </p:txBody>
      </p:sp>
      <p:sp>
        <p:nvSpPr>
          <p:cNvPr id="4" name="Shape 2"/>
          <p:cNvSpPr/>
          <p:nvPr/>
        </p:nvSpPr>
        <p:spPr>
          <a:xfrm>
            <a:off x="812800" y="3384550"/>
            <a:ext cx="2527300" cy="0"/>
          </a:xfrm>
          <a:prstGeom prst="line">
            <a:avLst/>
          </a:prstGeom>
          <a:noFill/>
          <a:ln w="25400">
            <a:solidFill>
              <a:srgbClr val="E8833A"/>
            </a:solidFill>
            <a:prstDash val="solid"/>
          </a:ln>
        </p:spPr>
      </p:sp>
      <p:sp>
        <p:nvSpPr>
          <p:cNvPr id="5" name="Text 3"/>
          <p:cNvSpPr/>
          <p:nvPr/>
        </p:nvSpPr>
        <p:spPr>
          <a:xfrm>
            <a:off x="812800" y="3549650"/>
            <a:ext cx="2603119" cy="23495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8833A"/>
                </a:solidFill>
                <a:latin typeface="JetBrains Mono" pitchFamily="49" charset="0"/>
                <a:ea typeface="JetBrains Mono" pitchFamily="49" charset="-122"/>
                <a:cs typeface="JetBrains Mono" pitchFamily="49" charset="-120"/>
              </a:rPr>
              <a:t>01</a:t>
            </a:r>
            <a:endParaRPr lang="en-US" sz="1200" dirty="0"/>
          </a:p>
        </p:txBody>
      </p:sp>
      <p:sp>
        <p:nvSpPr>
          <p:cNvPr id="6" name="Text 4"/>
          <p:cNvSpPr/>
          <p:nvPr/>
        </p:nvSpPr>
        <p:spPr>
          <a:xfrm>
            <a:off x="812800" y="3835400"/>
            <a:ext cx="2603119" cy="26670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4F2EC"/>
                </a:solidFill>
                <a:latin typeface="IBM Plex Sans" pitchFamily="34" charset="0"/>
                <a:ea typeface="IBM Plex Sans" pitchFamily="34" charset="-122"/>
                <a:cs typeface="IBM Plex Sans" pitchFamily="34" charset="-120"/>
              </a:rPr>
              <a:t>Validate on Australia</a:t>
            </a:r>
            <a:endParaRPr lang="en-US" sz="1600" dirty="0"/>
          </a:p>
        </p:txBody>
      </p:sp>
      <p:sp>
        <p:nvSpPr>
          <p:cNvPr id="7" name="Text 5"/>
          <p:cNvSpPr/>
          <p:nvPr/>
        </p:nvSpPr>
        <p:spPr>
          <a:xfrm>
            <a:off x="812800" y="4152900"/>
            <a:ext cx="2603119" cy="44450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9C6D2"/>
                </a:solidFill>
                <a:latin typeface="IBM Plex Sans" pitchFamily="34" charset="0"/>
                <a:ea typeface="IBM Plex Sans" pitchFamily="34" charset="-122"/>
                <a:cs typeface="IBM Plex Sans" pitchFamily="34" charset="-120"/>
              </a:rPr>
              <a:t>Install the update set on a second instance</a:t>
            </a:r>
            <a:endParaRPr lang="en-US" sz="1200" dirty="0"/>
          </a:p>
        </p:txBody>
      </p:sp>
      <p:sp>
        <p:nvSpPr>
          <p:cNvPr id="8" name="Shape 6"/>
          <p:cNvSpPr/>
          <p:nvPr/>
        </p:nvSpPr>
        <p:spPr>
          <a:xfrm>
            <a:off x="3492500" y="3384550"/>
            <a:ext cx="2527300" cy="0"/>
          </a:xfrm>
          <a:prstGeom prst="line">
            <a:avLst/>
          </a:prstGeom>
          <a:noFill/>
          <a:ln w="25400">
            <a:solidFill>
              <a:srgbClr val="E8833A"/>
            </a:solidFill>
            <a:prstDash val="solid"/>
          </a:ln>
        </p:spPr>
      </p:sp>
      <p:sp>
        <p:nvSpPr>
          <p:cNvPr id="9" name="Text 7"/>
          <p:cNvSpPr/>
          <p:nvPr/>
        </p:nvSpPr>
        <p:spPr>
          <a:xfrm>
            <a:off x="3492500" y="3549650"/>
            <a:ext cx="2603119" cy="23495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8833A"/>
                </a:solidFill>
                <a:latin typeface="JetBrains Mono" pitchFamily="49" charset="0"/>
                <a:ea typeface="JetBrains Mono" pitchFamily="49" charset="-122"/>
                <a:cs typeface="JetBrains Mono" pitchFamily="49" charset="-120"/>
              </a:rPr>
              <a:t>02</a:t>
            </a:r>
            <a:endParaRPr lang="en-US" sz="1200" dirty="0"/>
          </a:p>
        </p:txBody>
      </p:sp>
      <p:sp>
        <p:nvSpPr>
          <p:cNvPr id="10" name="Text 8"/>
          <p:cNvSpPr/>
          <p:nvPr/>
        </p:nvSpPr>
        <p:spPr>
          <a:xfrm>
            <a:off x="3492500" y="3835400"/>
            <a:ext cx="2603119" cy="26670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4F2EC"/>
                </a:solidFill>
                <a:latin typeface="IBM Plex Sans" pitchFamily="34" charset="0"/>
                <a:ea typeface="IBM Plex Sans" pitchFamily="34" charset="-122"/>
                <a:cs typeface="IBM Plex Sans" pitchFamily="34" charset="-120"/>
              </a:rPr>
              <a:t>Roll out</a:t>
            </a:r>
            <a:endParaRPr lang="en-US" sz="1600" dirty="0"/>
          </a:p>
        </p:txBody>
      </p:sp>
      <p:sp>
        <p:nvSpPr>
          <p:cNvPr id="11" name="Text 9"/>
          <p:cNvSpPr/>
          <p:nvPr/>
        </p:nvSpPr>
        <p:spPr>
          <a:xfrm>
            <a:off x="3492500" y="4152900"/>
            <a:ext cx="2603119" cy="44450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9C6D2"/>
                </a:solidFill>
                <a:latin typeface="IBM Plex Sans" pitchFamily="34" charset="0"/>
                <a:ea typeface="IBM Plex Sans" pitchFamily="34" charset="-122"/>
                <a:cs typeface="IBM Plex Sans" pitchFamily="34" charset="-120"/>
              </a:rPr>
              <a:t>Move ECS 1.0 to the instances developers use</a:t>
            </a:r>
            <a:endParaRPr lang="en-US" sz="1200" dirty="0"/>
          </a:p>
        </p:txBody>
      </p:sp>
      <p:sp>
        <p:nvSpPr>
          <p:cNvPr id="12" name="Shape 10"/>
          <p:cNvSpPr/>
          <p:nvPr/>
        </p:nvSpPr>
        <p:spPr>
          <a:xfrm>
            <a:off x="6172200" y="3384550"/>
            <a:ext cx="2527300" cy="0"/>
          </a:xfrm>
          <a:prstGeom prst="line">
            <a:avLst/>
          </a:prstGeom>
          <a:noFill/>
          <a:ln w="25400">
            <a:solidFill>
              <a:srgbClr val="E8833A"/>
            </a:solidFill>
            <a:prstDash val="solid"/>
          </a:ln>
        </p:spPr>
      </p:sp>
      <p:sp>
        <p:nvSpPr>
          <p:cNvPr id="13" name="Text 11"/>
          <p:cNvSpPr/>
          <p:nvPr/>
        </p:nvSpPr>
        <p:spPr>
          <a:xfrm>
            <a:off x="6172200" y="3549650"/>
            <a:ext cx="2603119" cy="23495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8833A"/>
                </a:solidFill>
                <a:latin typeface="JetBrains Mono" pitchFamily="49" charset="0"/>
                <a:ea typeface="JetBrains Mono" pitchFamily="49" charset="-122"/>
                <a:cs typeface="JetBrains Mono" pitchFamily="49" charset="-120"/>
              </a:rPr>
              <a:t>03</a:t>
            </a:r>
            <a:endParaRPr lang="en-US" sz="1200" dirty="0"/>
          </a:p>
        </p:txBody>
      </p:sp>
      <p:sp>
        <p:nvSpPr>
          <p:cNvPr id="14" name="Text 12"/>
          <p:cNvSpPr/>
          <p:nvPr/>
        </p:nvSpPr>
        <p:spPr>
          <a:xfrm>
            <a:off x="6172200" y="3835400"/>
            <a:ext cx="2603119" cy="26670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4F2EC"/>
                </a:solidFill>
                <a:latin typeface="IBM Plex Sans" pitchFamily="34" charset="0"/>
                <a:ea typeface="IBM Plex Sans" pitchFamily="34" charset="-122"/>
                <a:cs typeface="IBM Plex Sans" pitchFamily="34" charset="-120"/>
              </a:rPr>
              <a:t>Set up access</a:t>
            </a:r>
            <a:endParaRPr lang="en-US" sz="1600" dirty="0"/>
          </a:p>
        </p:txBody>
      </p:sp>
      <p:sp>
        <p:nvSpPr>
          <p:cNvPr id="15" name="Text 13"/>
          <p:cNvSpPr/>
          <p:nvPr/>
        </p:nvSpPr>
        <p:spPr>
          <a:xfrm>
            <a:off x="6172200" y="4152900"/>
            <a:ext cx="2603119" cy="44450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9C6D2"/>
                </a:solidFill>
                <a:latin typeface="IBM Plex Sans" pitchFamily="34" charset="0"/>
                <a:ea typeface="IBM Plex Sans" pitchFamily="34" charset="-122"/>
                <a:cs typeface="IBM Plex Sans" pitchFamily="34" charset="-120"/>
              </a:rPr>
              <a:t>Access controls for protected components and exceptions</a:t>
            </a:r>
            <a:endParaRPr lang="en-US" sz="1200" dirty="0"/>
          </a:p>
        </p:txBody>
      </p:sp>
      <p:sp>
        <p:nvSpPr>
          <p:cNvPr id="16" name="Shape 14"/>
          <p:cNvSpPr/>
          <p:nvPr/>
        </p:nvSpPr>
        <p:spPr>
          <a:xfrm>
            <a:off x="8851900" y="3384550"/>
            <a:ext cx="2527300" cy="0"/>
          </a:xfrm>
          <a:prstGeom prst="line">
            <a:avLst/>
          </a:prstGeom>
          <a:noFill/>
          <a:ln w="25400">
            <a:solidFill>
              <a:srgbClr val="E8833A"/>
            </a:solidFill>
            <a:prstDash val="solid"/>
          </a:ln>
        </p:spPr>
      </p:sp>
      <p:sp>
        <p:nvSpPr>
          <p:cNvPr id="17" name="Text 15"/>
          <p:cNvSpPr/>
          <p:nvPr/>
        </p:nvSpPr>
        <p:spPr>
          <a:xfrm>
            <a:off x="8851900" y="3549650"/>
            <a:ext cx="2603119" cy="23495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8833A"/>
                </a:solidFill>
                <a:latin typeface="JetBrains Mono" pitchFamily="49" charset="0"/>
                <a:ea typeface="JetBrains Mono" pitchFamily="49" charset="-122"/>
                <a:cs typeface="JetBrains Mono" pitchFamily="49" charset="-120"/>
              </a:rPr>
              <a:t>04</a:t>
            </a:r>
            <a:endParaRPr lang="en-US" sz="1200" dirty="0"/>
          </a:p>
        </p:txBody>
      </p:sp>
      <p:sp>
        <p:nvSpPr>
          <p:cNvPr id="18" name="Text 16"/>
          <p:cNvSpPr/>
          <p:nvPr/>
        </p:nvSpPr>
        <p:spPr>
          <a:xfrm>
            <a:off x="8851900" y="3835400"/>
            <a:ext cx="2603119" cy="26670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4F2EC"/>
                </a:solidFill>
                <a:latin typeface="IBM Plex Sans" pitchFamily="34" charset="0"/>
                <a:ea typeface="IBM Plex Sans" pitchFamily="34" charset="-122"/>
                <a:cs typeface="IBM Plex Sans" pitchFamily="34" charset="-120"/>
              </a:rPr>
              <a:t>Grow the rules</a:t>
            </a:r>
            <a:endParaRPr lang="en-US" sz="1600" dirty="0"/>
          </a:p>
        </p:txBody>
      </p:sp>
      <p:sp>
        <p:nvSpPr>
          <p:cNvPr id="19" name="Text 17"/>
          <p:cNvSpPr/>
          <p:nvPr/>
        </p:nvSpPr>
        <p:spPr>
          <a:xfrm>
            <a:off x="8851900" y="4152900"/>
            <a:ext cx="2603119" cy="44450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9C6D2"/>
                </a:solidFill>
                <a:latin typeface="IBM Plex Sans" pitchFamily="34" charset="0"/>
                <a:ea typeface="IBM Plex Sans" pitchFamily="34" charset="-122"/>
                <a:cs typeface="IBM Plex Sans" pitchFamily="34" charset="-120"/>
              </a:rPr>
              <a:t>Add rules from your feedback and incidents</a:t>
            </a:r>
            <a:endParaRPr lang="en-US" sz="1200" dirty="0"/>
          </a:p>
        </p:txBody>
      </p:sp>
      <p:sp>
        <p:nvSpPr>
          <p:cNvPr id="20" name="Text 18"/>
          <p:cNvSpPr/>
          <p:nvPr/>
        </p:nvSpPr>
        <p:spPr>
          <a:xfrm>
            <a:off x="812800" y="5765800"/>
            <a:ext cx="10883392" cy="30480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B9C6D2"/>
                </a:solidFill>
                <a:latin typeface="IBM Plex Sans" pitchFamily="34" charset="0"/>
                <a:ea typeface="IBM Plex Sans" pitchFamily="34" charset="-122"/>
                <a:cs typeface="IBM Plex Sans" pitchFamily="34" charset="-120"/>
              </a:rPr>
              <a:t>Tell us which components to protect, and which owner group each one belongs to.</a:t>
            </a:r>
            <a:endParaRPr lang="en-US" sz="16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4F2EC"/>
        </a:solidFill>
      </p:bgPr>
    </p:bg>
    <p:spTree>
      <p:nvGrpSpPr>
        <p:cNvPr id="1" name=""/>
        <p:cNvGrpSpPr/>
        <p:nvPr/>
      </p:nvGrpSpPr>
      <p:grpSpPr>
        <a:xfrm>
          <a:off x="0" y="0"/>
          <a:ext cx="0" cy="0"/>
          <a:chOff x="0" y="0"/>
          <a:chExt cx="0" cy="0"/>
        </a:xfrm>
      </p:grpSpPr>
      <p:sp>
        <p:nvSpPr>
          <p:cNvPr id="2" name="Text 0"/>
          <p:cNvSpPr/>
          <p:nvPr/>
        </p:nvSpPr>
        <p:spPr>
          <a:xfrm>
            <a:off x="812800" y="812800"/>
            <a:ext cx="10883392" cy="23495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B4561A"/>
                </a:solidFill>
                <a:latin typeface="JetBrains Mono" pitchFamily="49" charset="0"/>
                <a:ea typeface="JetBrains Mono" pitchFamily="49" charset="-122"/>
                <a:cs typeface="JetBrains Mono" pitchFamily="49" charset="-120"/>
              </a:rPr>
              <a:t>QUESTIONS</a:t>
            </a:r>
            <a:endParaRPr lang="en-US" sz="1200" dirty="0"/>
          </a:p>
        </p:txBody>
      </p:sp>
      <p:sp>
        <p:nvSpPr>
          <p:cNvPr id="3" name="Text 1"/>
          <p:cNvSpPr/>
          <p:nvPr>
            <p:ph type="title"/>
          </p:nvPr>
        </p:nvSpPr>
        <p:spPr>
          <a:xfrm>
            <a:off x="812800" y="1174750"/>
            <a:ext cx="10883392" cy="52705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2202E"/>
                </a:solidFill>
                <a:latin typeface="IBM Plex Sans" pitchFamily="34" charset="0"/>
                <a:ea typeface="IBM Plex Sans" pitchFamily="34" charset="-122"/>
                <a:cs typeface="IBM Plex Sans" pitchFamily="34" charset="-120"/>
              </a:rPr>
              <a:t>Questions you might have</a:t>
            </a:r>
            <a:endParaRPr lang="en-US" sz="3600" dirty="0"/>
          </a:p>
        </p:txBody>
      </p:sp>
      <p:sp>
        <p:nvSpPr>
          <p:cNvPr id="4" name="Shape 2"/>
          <p:cNvSpPr/>
          <p:nvPr/>
        </p:nvSpPr>
        <p:spPr>
          <a:xfrm>
            <a:off x="812800" y="4514850"/>
            <a:ext cx="5181600" cy="0"/>
          </a:xfrm>
          <a:prstGeom prst="line">
            <a:avLst/>
          </a:prstGeom>
          <a:noFill/>
          <a:ln w="12700">
            <a:solidFill>
              <a:srgbClr val="D5D2C8"/>
            </a:solidFill>
            <a:prstDash val="solid"/>
          </a:ln>
        </p:spPr>
      </p:sp>
      <p:sp>
        <p:nvSpPr>
          <p:cNvPr id="5" name="Text 3"/>
          <p:cNvSpPr/>
          <p:nvPr/>
        </p:nvSpPr>
        <p:spPr>
          <a:xfrm>
            <a:off x="812800" y="4673600"/>
            <a:ext cx="5337048" cy="26670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2202E"/>
                </a:solidFill>
                <a:latin typeface="IBM Plex Sans" pitchFamily="34" charset="0"/>
                <a:ea typeface="IBM Plex Sans" pitchFamily="34" charset="-122"/>
                <a:cs typeface="IBM Plex Sans" pitchFamily="34" charset="-120"/>
              </a:rPr>
              <a:t>What if a finding is wrong?</a:t>
            </a:r>
            <a:endParaRPr lang="en-US" sz="1600" dirty="0"/>
          </a:p>
        </p:txBody>
      </p:sp>
      <p:sp>
        <p:nvSpPr>
          <p:cNvPr id="6" name="Text 4"/>
          <p:cNvSpPr/>
          <p:nvPr/>
        </p:nvSpPr>
        <p:spPr>
          <a:xfrm>
            <a:off x="812800" y="4965700"/>
            <a:ext cx="5337048" cy="23495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525E"/>
                </a:solidFill>
                <a:latin typeface="IBM Plex Sans" pitchFamily="34" charset="0"/>
                <a:ea typeface="IBM Plex Sans" pitchFamily="34" charset="-122"/>
                <a:cs typeface="IBM Plex Sans" pitchFamily="34" charset="-120"/>
              </a:rPr>
              <a:t>Request an exception. Peer Reviewer decides, and the reviewer sees it.</a:t>
            </a:r>
            <a:endParaRPr lang="en-US" sz="1200" dirty="0"/>
          </a:p>
        </p:txBody>
      </p:sp>
      <p:sp>
        <p:nvSpPr>
          <p:cNvPr id="7" name="Shape 5"/>
          <p:cNvSpPr/>
          <p:nvPr/>
        </p:nvSpPr>
        <p:spPr>
          <a:xfrm>
            <a:off x="6197600" y="4514850"/>
            <a:ext cx="5181600" cy="0"/>
          </a:xfrm>
          <a:prstGeom prst="line">
            <a:avLst/>
          </a:prstGeom>
          <a:noFill/>
          <a:ln w="12700">
            <a:solidFill>
              <a:srgbClr val="D5D2C8"/>
            </a:solidFill>
            <a:prstDash val="solid"/>
          </a:ln>
        </p:spPr>
      </p:sp>
      <p:sp>
        <p:nvSpPr>
          <p:cNvPr id="8" name="Text 6"/>
          <p:cNvSpPr/>
          <p:nvPr/>
        </p:nvSpPr>
        <p:spPr>
          <a:xfrm>
            <a:off x="6197600" y="4673600"/>
            <a:ext cx="5337048" cy="26670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2202E"/>
                </a:solidFill>
                <a:latin typeface="IBM Plex Sans" pitchFamily="34" charset="0"/>
                <a:ea typeface="IBM Plex Sans" pitchFamily="34" charset="-122"/>
                <a:cs typeface="IBM Plex Sans" pitchFamily="34" charset="-120"/>
              </a:rPr>
              <a:t>Does it scan the whole instance?</a:t>
            </a:r>
            <a:endParaRPr lang="en-US" sz="1600" dirty="0"/>
          </a:p>
        </p:txBody>
      </p:sp>
      <p:sp>
        <p:nvSpPr>
          <p:cNvPr id="9" name="Text 7"/>
          <p:cNvSpPr/>
          <p:nvPr/>
        </p:nvSpPr>
        <p:spPr>
          <a:xfrm>
            <a:off x="6197600" y="4965700"/>
            <a:ext cx="5337048" cy="23495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525E"/>
                </a:solidFill>
                <a:latin typeface="IBM Plex Sans" pitchFamily="34" charset="0"/>
                <a:ea typeface="IBM Plex Sans" pitchFamily="34" charset="-122"/>
                <a:cs typeface="IBM Plex Sans" pitchFamily="34" charset="-120"/>
              </a:rPr>
              <a:t>No. Only what the update set contains, so old code doesn’t block new work.</a:t>
            </a:r>
            <a:endParaRPr lang="en-US" sz="1200" dirty="0"/>
          </a:p>
        </p:txBody>
      </p:sp>
      <p:sp>
        <p:nvSpPr>
          <p:cNvPr id="10" name="Shape 8"/>
          <p:cNvSpPr/>
          <p:nvPr/>
        </p:nvSpPr>
        <p:spPr>
          <a:xfrm>
            <a:off x="812800" y="5384800"/>
            <a:ext cx="5181600" cy="0"/>
          </a:xfrm>
          <a:prstGeom prst="line">
            <a:avLst/>
          </a:prstGeom>
          <a:noFill/>
          <a:ln w="12700">
            <a:solidFill>
              <a:srgbClr val="D5D2C8"/>
            </a:solidFill>
            <a:prstDash val="solid"/>
          </a:ln>
        </p:spPr>
      </p:sp>
      <p:sp>
        <p:nvSpPr>
          <p:cNvPr id="11" name="Text 9"/>
          <p:cNvSpPr/>
          <p:nvPr/>
        </p:nvSpPr>
        <p:spPr>
          <a:xfrm>
            <a:off x="812800" y="5543550"/>
            <a:ext cx="5337048" cy="26670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2202E"/>
                </a:solidFill>
                <a:latin typeface="IBM Plex Sans" pitchFamily="34" charset="0"/>
                <a:ea typeface="IBM Plex Sans" pitchFamily="34" charset="-122"/>
                <a:cs typeface="IBM Plex Sans" pitchFamily="34" charset="-120"/>
              </a:rPr>
              <a:t>Can I check before I close?</a:t>
            </a:r>
            <a:endParaRPr lang="en-US" sz="1600" dirty="0"/>
          </a:p>
        </p:txBody>
      </p:sp>
      <p:sp>
        <p:nvSpPr>
          <p:cNvPr id="12" name="Text 10"/>
          <p:cNvSpPr/>
          <p:nvPr/>
        </p:nvSpPr>
        <p:spPr>
          <a:xfrm>
            <a:off x="812800" y="5835650"/>
            <a:ext cx="5337048" cy="23495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525E"/>
                </a:solidFill>
                <a:latin typeface="IBM Plex Sans" pitchFamily="34" charset="0"/>
                <a:ea typeface="IBM Plex Sans" pitchFamily="34" charset="-122"/>
                <a:cs typeface="IBM Plex Sans" pitchFamily="34" charset="-120"/>
              </a:rPr>
              <a:t>Yes. Run a point scan on a record or the update set at any time.</a:t>
            </a:r>
            <a:endParaRPr lang="en-US" sz="1200" dirty="0"/>
          </a:p>
        </p:txBody>
      </p:sp>
      <p:sp>
        <p:nvSpPr>
          <p:cNvPr id="13" name="Shape 11"/>
          <p:cNvSpPr/>
          <p:nvPr/>
        </p:nvSpPr>
        <p:spPr>
          <a:xfrm>
            <a:off x="6197600" y="5384800"/>
            <a:ext cx="5181600" cy="0"/>
          </a:xfrm>
          <a:prstGeom prst="line">
            <a:avLst/>
          </a:prstGeom>
          <a:noFill/>
          <a:ln w="12700">
            <a:solidFill>
              <a:srgbClr val="D5D2C8"/>
            </a:solidFill>
            <a:prstDash val="solid"/>
          </a:ln>
        </p:spPr>
      </p:sp>
      <p:sp>
        <p:nvSpPr>
          <p:cNvPr id="14" name="Text 12"/>
          <p:cNvSpPr/>
          <p:nvPr/>
        </p:nvSpPr>
        <p:spPr>
          <a:xfrm>
            <a:off x="6197600" y="5543550"/>
            <a:ext cx="5337048" cy="26670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2202E"/>
                </a:solidFill>
                <a:latin typeface="IBM Plex Sans" pitchFamily="34" charset="0"/>
                <a:ea typeface="IBM Plex Sans" pitchFamily="34" charset="-122"/>
                <a:cs typeface="IBM Plex Sans" pitchFamily="34" charset="-120"/>
              </a:rPr>
              <a:t>Who maintains it?</a:t>
            </a:r>
            <a:endParaRPr lang="en-US" sz="1600" dirty="0"/>
          </a:p>
        </p:txBody>
      </p:sp>
      <p:sp>
        <p:nvSpPr>
          <p:cNvPr id="15" name="Text 13"/>
          <p:cNvSpPr/>
          <p:nvPr/>
        </p:nvSpPr>
        <p:spPr>
          <a:xfrm>
            <a:off x="6197600" y="5835650"/>
            <a:ext cx="5337048" cy="23495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525E"/>
                </a:solidFill>
                <a:latin typeface="IBM Plex Sans" pitchFamily="34" charset="0"/>
                <a:ea typeface="IBM Plex Sans" pitchFamily="34" charset="-122"/>
                <a:cs typeface="IBM Plex Sans" pitchFamily="34" charset="-120"/>
              </a:rPr>
              <a:t>Rules live in source with tests and ship as an update set: [owner team].</a:t>
            </a:r>
            <a:endParaRPr lang="en-US" sz="1200" dirty="0"/>
          </a:p>
        </p:txBody>
      </p:sp>
    </p:spTree>
  </p:cSld>
  <p:clrMapOvr>
    <a:masterClrMapping/>
  </p:clrMapOvr>
</p:sld>
</file>

<file path=ppt/theme/theme1.xml><?xml version="1.0" encoding="utf-8"?>
<a:theme xmlns:a="http://schemas.openxmlformats.org/drawingml/2006/main" name="Enterprise Coding Standard">
  <a:themeElements>
    <a:clrScheme name="Enterprise Coding Standard">
      <a:dk1>
        <a:srgbClr val="12202E"/>
      </a:dk1>
      <a:lt1>
        <a:srgbClr val="F4F2EC"/>
      </a:lt1>
      <a:dk2>
        <a:srgbClr val="4B555E"/>
      </a:dk2>
      <a:lt2>
        <a:srgbClr val="DDDDD9"/>
      </a:lt2>
      <a:accent1>
        <a:srgbClr val="E8833A"/>
      </a:accent1>
      <a:accent2>
        <a:srgbClr val="B4561A"/>
      </a:accent2>
      <a:accent3>
        <a:srgbClr val="2F6FB0"/>
      </a:accent3>
      <a:accent4>
        <a:srgbClr val="FBE3CF"/>
      </a:accent4>
      <a:accent5>
        <a:srgbClr val="8CC0F0"/>
      </a:accent5>
      <a:accent6>
        <a:srgbClr val="46525E"/>
      </a:accent6>
      <a:hlink>
        <a:srgbClr val="0563C1"/>
      </a:hlink>
      <a:folHlink>
        <a:srgbClr val="954F72"/>
      </a:folHlink>
    </a:clrScheme>
    <a:fontScheme name="Enterprise Coding Standard">
      <a:majorFont>
        <a:latin typeface="IBM Plex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Enterprise Coding Standard</dc:title>
  <dc:subject/>
  <dc:creator/>
  <cp:lastModifiedBy/>
  <cp:revision>1</cp:revision>
  <dcterms:created xsi:type="dcterms:W3CDTF">2026-10-16T00:42:49Z</dcterms:created>
  <dcterms:modified xsi:type="dcterms:W3CDTF">2026-10-16T00:42:49Z</dcterms:modified>
</cp:coreProperties>
</file>